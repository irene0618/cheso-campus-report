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5" r:id="rId12"/>
    <p:sldId id="266" r:id="rId13"/>
    <p:sldId id="263" r:id="rId14"/>
    <p:sldId id="267" r:id="rId1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“小”题大作拟面向深圳大学城学生举办校园创作赛。学生自己选一个身边的题目，使用 Cheso 制作 PPT 或海报，提交作品参加评选。活动提供经确认的试用支持、作品点评和奖励。</a:t>
            </a:r>
          </a:p>
          <a:p/>
          <a:p>
            <a:r>
              <a:t>“小”加双引号，指的是个人身边的事，或一个小团队正在做的事。它可以来自生活，也可以来自课程、社团和项目。“大作”指借助 Design Agent 改善表达，让想法讲得清楚，让作品的画面与呈现让人眼前一亮。它不要求课题宏大、内容严肃或页数很多。</a:t>
            </a:r>
          </a:p>
          <a:p/>
          <a:p>
            <a:r>
              <a:t>学生参加一场自选题创作比赛。Cheso 通过比赛让学生实际体验产品，收集作品与反馈，再了解他们之后是否愿意继续用。这两项说明分别面向参与者和产品团队。</a:t>
            </a:r>
          </a:p>
          <a:p/>
          <a:p>
            <a:r>
              <a:t>活动日期、合作单位、名额、试用范围及奖励均需在正式招募前确认。现有主视觉来自本项目海报，Cheso 字标来自原始品牌截图。</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活动面向深圳大学城学生，不限专业，允许个人或一至三人组队。参赛者自己选题，用 Cheso 制作一份 PPT 或海报，再提交评选。选择的事情可以原本就要汇报，也可以只是自己有兴趣、想分享。</a:t>
            </a:r>
          </a:p>
          <a:p/>
          <a:p>
            <a:r>
              <a:t>活动邀请必须先讲清楚这是一场创作比赛。学生看到邀请后，应当知道自己可以讲什么、需要做什么作品、使用什么工具，以及完成后如何参加评选。报名表询问选题和作品形式，入选后再发放试用说明、日期和求助方式。</a:t>
            </a:r>
          </a:p>
          <a:p/>
          <a:p>
            <a:r>
              <a:t>比赛拟提供试用权限、两次集中答疑和每份合规作品的一次点评。优秀作品获得经批准的奖励，自愿公开的作品还有展示机会。不把报名、注册或发帖当作作品完成。</a:t>
            </a:r>
          </a:p>
          <a:p/>
          <a:p>
            <a:r>
              <a:t>Cheso 团队希望学生在制作中亲自判断工具是否帮得上忙。活动结束后继续了解新的表达需求是否出现，以及学生是否再次选择 Cheso。首轮不把付费列为已经确定的目标。</a:t>
            </a:r>
          </a:p>
          <a:p/>
          <a:p>
            <a:r>
              <a:t>产品截图与功能方向来自 Cheso 官方材料《presentation.pptx》及产品首页截图，官网为 https://cheso.ai 。截图余额不代表活动赠送额度。开放功能、导入与导出方式、账号额度以产品团队确认及样本测试为准。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“小”指同学自己身边的事情。例如今天的午饭、自己的爱好、一次周末出行，也包括小组作业、社团招新和团队项目。选题范围从个人延伸到小团队，不按照事情的重要程度区分参赛资格。</a:t>
            </a:r>
          </a:p>
          <a:p/>
          <a:p>
            <a:r>
              <a:t>“大作”指作品带来的观看感受。学生借助 Cheso 组织内容和制作页面，再根据自己的判断调整，让一件原本普通的事情也能讲得清楚、有趣，呈现出完整的视觉风格。具体支持范围以产品实测为准，不能据此承诺任何材料都能一次生成成品。</a:t>
            </a:r>
          </a:p>
          <a:p/>
          <a:p>
            <a:r>
              <a:t>以午饭为例，学生拍下自己的餐盘，讲清今天为什么这样选、哪道菜最值得推荐，再用合适的标题、照片与排版做成一份有趣的午餐汇报。只有个人体验时就明确写个人体验。涉及价格、营养或统计结果时，需要真实资料，不能为了显得专业虚构数据。</a:t>
            </a:r>
          </a:p>
          <a:p/>
          <a:p>
            <a:r>
              <a:t>同一思路也适用于课堂汇报和社团介绍。内容认真，呈现有吸引力，观众能理解想表达什么，就有成为好作品的机会。活动规则不要求额外记录固定天数，不要求必须有正式展示场合。作品可用于朋友之间的分享，也可用于课堂和社团活动。</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学生邀请文案拟稿如下。</a:t>
            </a:r>
          </a:p>
          <a:p/>
          <a:p>
            <a:r>
              <a:t>今天吃了什么，也值得做个精彩的汇报。</a:t>
            </a:r>
          </a:p>
          <a:p/>
          <a:p>
            <a:r>
              <a:t>Cheso 邀请你参加“小”题大作校园创作赛。题目由你决定。一次午饭、自己的爱好、课堂汇报或团队项目，都欢迎带来。</a:t>
            </a:r>
          </a:p>
          <a:p/>
          <a:p>
            <a:r>
              <a:t>选一件你想分享的事，用 Cheso 做成一份 PPT 或海报，提交参加评选。你可以一个人参加，也可以和一两位同学组队，不限专业。入选后获得经确认的试用支持，作品获得点评，优秀作品还有奖励。</a:t>
            </a:r>
          </a:p>
          <a:p/>
          <a:p>
            <a:r>
              <a:t>先通过活动报名表告诉我们你想做什么。活动日期、名额、试用范围与奖励以正式公告为准。</a:t>
            </a:r>
          </a:p>
          <a:p/>
          <a:p>
            <a:r>
              <a:t>正式公告须提供可用报名入口和联系人，并清楚写出报名及作品提交日期。账号和额度先确认再承诺。邀请文案中的午饭只是例子，其他题目同样欢迎。无需提交额外的品牌广告，也不要求参与者公开自己的生活资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本页五个例子用于帮助学生想到自己的题目，不构成固定赛道或报名限制。学生也可以选择游戏经历、音乐爱好、运动记录、个人收藏或其他真实兴趣。重点是愿意认真表达，并能提供适合使用的内容。</a:t>
            </a:r>
          </a:p>
          <a:p/>
          <a:p>
            <a:r>
              <a:t>今天吃了什么，可以从几张午饭照片和个人选择理由开始，做成一份午餐报告。周末路线可以用自己的经历和照片做成出游提案。课堂汇报、社团招新和团队项目同样欢迎，是否有作业要求和截止日期不影响其他生活选题的参赛资格。</a:t>
            </a:r>
          </a:p>
          <a:p/>
          <a:p>
            <a:r>
              <a:t>报名时收集选题、想表达什么、预计作品形式、现有材料类型和联系方式。个人参赛与组队参赛使用同一套规则。不优先保留给设计专业，不因选题严肃或团队更大而优先录取。</a:t>
            </a:r>
          </a:p>
          <a:p/>
          <a:p>
            <a:r>
              <a:t>如果名额有限，先确认材料是否可用、是否愿意使用 Cheso 完成作品以及能否配合比赛日期，再按事先公开的顺序确认。课程任务须遵守课程关于 AI 使用的规定，团队材料需要相应同意。个人信息、未公开研究和保密材料不要求上传。</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首轮按二十组估算，个人参赛按一组计算，组队建议二至三人。名额在产品测试、预算和人员安排确认后公布。面向深圳大学城学生，不限专业。题目来自真实兴趣或准备表达的内容即可，不要求已有作业、截止日期或正式汇报场合。</a:t>
            </a:r>
          </a:p>
          <a:p/>
          <a:p>
            <a:r>
              <a:t>报名表先收选题、想做的作品形式和一位联系人的必要信息。了解活动的渠道作为可选项。报名时不索取原始研究材料、证件照片或完整策划案。资格和名额规则先公开，名额不足时按事先公布的顺序候补，不优先录取题目宏大或设计基础更强的人。</a:t>
            </a:r>
          </a:p>
          <a:p/>
          <a:p>
            <a:r>
              <a:t>校园运营拟在两个工作日内回复入选或候补结果。回复能力需排班确认。入选通知一次发齐账号开通办法、额度与使用期限、开始和截稿日期、初稿点评日期、文件要求、联系人，以及退出方式。请学生确认能进入产品和使用所需功能，再记录为可开始创作。实际用户按本人账号去重，不把每个组员自动计为用户。</a:t>
            </a:r>
          </a:p>
          <a:p/>
          <a:p>
            <a:r>
              <a:t>制作期间建议两次集中答疑，第一次在开通后，第二次在初稿阶段。每份符合要求的作品有一次点评。学生在公布的初稿日期前提交后，内容负责人提供具体修改建议。未交初稿的合规最终作品，在评审后收到一次点评。前后合计一次，避免重复承诺。产品支持负责操作指导，学生自行完成内容与修改。额外工具的使用需说明。</a:t>
            </a:r>
          </a:p>
          <a:p/>
          <a:p>
            <a:r>
              <a:t>投稿交一份成品和一页制作说明，说明题目、想讲给谁看、主要素材、Cheso 参与的步骤及自己的修改。运营检查能否打开、材料是否齐全，再回复收件结果。缺项一次性列出，按公告的统一补交期限处理。无法按期处理时，主动告知预计答复时间。公共账号故障影响交付时，由统筹确认统一延期办法。</a:t>
            </a:r>
          </a:p>
          <a:p/>
          <a:p>
            <a:r>
              <a:t>报名回复、投稿补交及异议期限均需在招募前公布。支持范围超出排班时先停止增加名额，已入选者的服务优先完成。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学生参加后获得经确认的试用支持，能把自己的题目做成作品，并收到具体修改建议。未获奖的合规作品同样有一次点评。点评应指明位置、问题和可尝试的修改，例如某页重点不清楚，建议把结论放到页首，并删掉无关的照片。工作人员不代做。</a:t>
            </a:r>
          </a:p>
          <a:p/>
          <a:p>
            <a:r>
              <a:t>试用支持应说明功能范围、额度、有效期及消耗规则，不能笼统承诺免费无限使用。每份作品的一次点评可以在初稿阶段使用，也可以在最终提交后获得。初稿点评的提交日期和回复日期在入选通知中写明，给学生留下修改时间。</a:t>
            </a:r>
          </a:p>
          <a:p/>
          <a:p>
            <a:r>
              <a:t>拟设最佳内容表达、最佳视觉呈现和最佳选题创意，每项一千元。每组最多获得一项现金奖励。先核验参评要求，再由评审按对应优势与完整作品表现选出获奖作品，并写出具体理由。最佳内容表达重点看是否讲得清楚，最佳视觉呈现重点看设计是否帮助理解，最佳选题创意重点看是否以有趣的角度讲出自己的观察。题目大小不影响获奖资格。</a:t>
            </a:r>
          </a:p>
          <a:p/>
          <a:p>
            <a:r>
              <a:t>奖项金额、人选、评审安排、异议期和发放日期均待批准。正式规则说明奖项空缺的处理方式。公示结果后，校园运营统一接收异议，评审完成复核，统筹确认最终名单和付款材料，再交财务按已公布日期发放并登记结果。</a:t>
            </a:r>
          </a:p>
          <a:p/>
          <a:p>
            <a:r>
              <a:t>学生可自愿参加作品展示。公开授权与评奖分开，拒绝公开不影响评分和奖金。展示前确认匿名方式、公开范围、使用期限与撤回联系办法。商业采用另行协商报酬。奖励不绑定转发、邀请人数、点赞或活动后的再次使用。不承诺学分、实习或学校认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校园运营先联系社团、兴趣小组、课程群及校园账号的负责人。现有资料没有证明这些合作已落实，不能将群成员人数当作可覆盖或可招募人数。获得许可后才在对应渠道发布。首轮不把全校刷屏或大规模付费投放列为前置条件。</a:t>
            </a:r>
          </a:p>
          <a:p/>
          <a:p>
            <a:r>
              <a:t>发布前准备一页学生邀请、参赛规则、可用报名表和联系人。用公开或获得授权的素材，实际制作生活分享 PPT、课堂 PPT 和海报样本。展示原始材料、关键修改和成品，说明 Cheso 与人工工作的范围。没有完成样本时只能使用明确标注的创意示意，不把餐盘海报或概念图说成产品生成案例。</a:t>
            </a:r>
          </a:p>
          <a:p/>
          <a:p>
            <a:r>
              <a:t>招募内容同时出现生活与课程、团队题目。午饭负责提供有趣的例子，其他题目让同学明白自己正在做的事情同样能参加。所有渠道使用同一份规则和报名入口。通过可识别的入口记录来源，不能识别时以报名者自述为准，不重复计算不同群带来的同一人。</a:t>
            </a:r>
          </a:p>
          <a:p/>
          <a:p>
            <a:r>
              <a:t>创作期间公布两次答疑安排，回答账号、额度、材料整理、修改及投稿问题。经作者同意，分享真实制作进展与关键修改。不要提前许诺所有题目一次生成，也不安排同学说预设好评。</a:t>
            </a:r>
          </a:p>
          <a:p/>
          <a:p>
            <a:r>
              <a:t>评选后拟整理三份获得授权的完整案例。每份说明学生为什么选题、用了哪些素材、Cheso 参与了哪些步骤、哪些地方由作者继续修改，以及成品的实际用途。优先用图文把过程讲清楚，有合适素材再制作视频。发布时附当时确实可用的体验方式。非获奖作品同样可成为案例，展示授权不影响评奖。</a:t>
            </a:r>
          </a:p>
          <a:p/>
          <a:p>
            <a:r>
              <a:t>右侧餐盘来自本项目海报，属于生活主题创意示意，不是 Cheso 生成效果。用户提供的活动运营截图仅用于检查流程完整性，其中的用户比例、ROI 及转化案例不作为本项目依据。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四周比赛及结束后三十天观察是供团队讨论的排期。尚未确认正式日期、执行人或校园合作，不能按既定活动对外承诺。时间要避开实际考试与校园活动冲突，具体安排由获许可的合作方和 Cheso 团队共同确认。</a:t>
            </a:r>
          </a:p>
          <a:p/>
          <a:p>
            <a:r>
              <a:t>发布前，项目统筹确认预算及总投入上限，登记岗位负责人和替补联系人。产品支持从输入材料、生成、修改到正常展示或交付，测试生活 PPT、课堂 PPT 和海报。确认开放功能、账号额度与试用期限。校园运营确认渠道许可、报名表和可回复的联系办法。内容负责人确认评审与案例授权规则。上述事项完成后再公开招募。</a:t>
            </a:r>
          </a:p>
          <a:p/>
          <a:p>
            <a:r>
              <a:t>第一周，校园运营回复报名，登记入选与候补，逐组确认权限可用。第二至三周，产品支持安排两次集中答疑，内容负责人完成每组一次点评，校园运营检查投稿并通知缺项。第一次答疑安排在账号开通后，第二次在初稿阶段。具体时间随入选通知发放。</a:t>
            </a:r>
          </a:p>
          <a:p/>
          <a:p>
            <a:r>
              <a:t>第四周，内容负责人组织评审并公布理由，运营接收异议，统筹确认复核和奖励名单。财务按公布日期发放奖金。具体发放期限需财务确认，不为满足第四周结束而跳过复核。授权案例在作者确认后发布，没有合适线下场地时使用在线展示，不擅自承诺校内展览。</a:t>
            </a:r>
          </a:p>
          <a:p/>
          <a:p>
            <a:r>
              <a:t>建议结束后第七天了解比赛中遇到的问题与新的表达需求，第三十天结束观察并记录新作品。账号可用期限应覆盖选定观察期。每位主要操作者记录是否联系成功、是否出现新题目、当时权限是否可用，以及最后选择的工具。中性询问，避免为观察结果布置额外作品任务。</a:t>
            </a:r>
          </a:p>
          <a:p/>
          <a:p>
            <a:r>
              <a:t>校园运营统一收问题，登记问题、负责人、约定回复日期和处理结果。账号及生成故障交产品支持。作品点评交内容负责人。评选和奖金异议交统筹协调评审与财务。拟两个工作日内先回复进度，人手不足则在公告前调整时限或名额。产品故障无法保障已承诺的创作时段时，暂停新增招募，并统一告知已入选同学的处理办法。</a:t>
            </a:r>
          </a:p>
          <a:p/>
          <a:p>
            <a:r>
              <a:t>各岗位可以兼任，不能将四种职责写成已经到位的四个人。操作、点评、评审与财务均需负责人确认。报名材料限定访问人员，提前告知用途、保存期限与删除渠道。未经授权不发布个人联系方式或原始敏感材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现金预算一万元是分配建议，尚未批准，未取得供应商报价。三千元对应三项学生奖励，每项一千元。两千元用于三份授权案例的内容整理和制作。一千五百元为外部点评或辅导费用，实际是否需要及服务范围另行确认。一千五百元预留场地设备，五百元印刷，一千五百元应急。全部分项合计一万元。</a:t>
            </a:r>
          </a:p>
          <a:p/>
          <a:p>
            <a:r>
              <a:t>已有场地、改用线上展示或由内部人员承担点评时，核减相应现金支出，不为用完预算追加项目。应急费用由统筹批准后使用。外部辅导费用与内部工时分别登记，同一项服务不得重复计入现金支出。内部工时仍记录实际投入，不因无新增现金支出而记为零成本。</a:t>
            </a:r>
          </a:p>
          <a:p/>
          <a:p>
            <a:r>
              <a:t>按二十组作人力估算。每组一次十五分钟点评合计五小时。每组二十分钟个别答疑合计六小时四十分钟。两次一小时集中答疑合计两小时。二十名主要操作者两轮各十分钟回访合计六小时四十分钟。以上共二十小时二十分钟，不含招募、样本制作、评审协调、投稿检查、案例制作、异常处理及数据整理。每组只有一名主要操作者参与回访是本次估算假设，多人参与则重新核算。</a:t>
            </a:r>
          </a:p>
          <a:p/>
          <a:p>
            <a:r>
              <a:t>产品试用的真实消耗、内部人员工时和作品商业采用费用不在一万元现金表内。产品消耗需覆盖首轮创作、修改、失败重试及观察期间的新作品。单价、赠送额度与有效期尚未核实，不能据此声称总成本就是一万元。启动前由团队补齐产品成本及人员工时，再批准现金、额度和工时各自上限。</a:t>
            </a:r>
          </a:p>
          <a:p/>
          <a:p>
            <a:r>
              <a:t>校园运营记录每组求助与辅导时间，产品支持记录可获得的产品消耗，统筹记录支出和预计余额。接近已批准上限时先暂停新增名额或非必要支出，保留已入选学生完成作品所需的支持。不用未知定价推算收入或投资回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评分建议总计一百分。主题表达三十分，看角度与内容组织。内容可信二十五分，涉及事实和数据时有依据，个人体验应明确为个人体验。视觉呈现三十分，看页面清楚、有风格，文字与图片确实帮助表达。制作说明十五分，看 Cheso、其他工具与作者各自做了什么。</a:t>
            </a:r>
          </a:p>
          <a:p/>
          <a:p>
            <a:r>
              <a:t>参评前，校园运营检查作品能否打开、主题是否完整、页面是否清楚，确认素材使用与提交所需授权。课程和研究作品还要遵守对应的 AI 使用与保密要求。不能要求上传同学的个人信息、未发表研究或保密资料。材料缺项先按统一规则补交。涉嫌抄袭、虚构事实或违规使用素材时，保留核查记录并给作者说明机会。</a:t>
            </a:r>
          </a:p>
          <a:p/>
          <a:p>
            <a:r>
              <a:t>拟邀设计、校园及产品代表参加评审，实际人选在招募前确认。评审先用同一份样本核对评分理解，再各自评分并记录理由。参与辅导者与作者存在利益关系时回避。生活分享与正式汇报使用相同标准，页数、点赞量和题目规模不加分。PPT 和海报按各自形式检查完整性，不要求海报提供 PPT 式的页数或讲述结构。</a:t>
            </a:r>
          </a:p>
          <a:p/>
          <a:p>
            <a:r>
              <a:t>校园运营发布拟获奖结果与理由，告知异议联系人及截止日期。异议统一登记后交评审复核，统筹确认处理结果并回复作者。评选规则、人选、异议时限及奖金日期均在正式公告中写明，比赛进行中不临时更改标准。</a:t>
            </a:r>
          </a:p>
          <a:p/>
          <a:p>
            <a:r>
              <a:t>作品完成的基础条件与评奖分数分别记录。能正常展示、内容完整、事实和授权无问题的作品可计入完成数量，不需要先获奖。具体格式须由产品测试确认后公布。</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主要观察学生是否实际使用 Cheso 完成了一份内容完整、清楚可读、可以正常展示的作品。工作人员不得代做。学生是否愿意分享作为单独反馈记录，公开传播仍需另外授权。二十组用于估算人手，十二份成品和三份完整案例仅用于团队讨论，不是实测转化率或扩大推广的门槛。根据上线前样本测试、实际人手和预算再确认目标。本轮不设未经依据支持的再次使用人数承诺。</a:t>
            </a:r>
          </a:p>
          <a:p/>
          <a:p>
            <a:r>
              <a:t>报名人数、入选组数、权限可用组数、开始制作组数、合格作品组数分别记录。每组用统一编号，同一组反复投稿只计一件活动作品，PPT 和海报分别列出。主要完成率为合格作品组数除以全部正式入选组数，含中途退出者。全部入选组数为零时不计算比例。可以补充已开始组数中的完成率，但不得用它替代整体完成情况。产品用户数按真实操作者账号去重，禁止将全部组员自动算为用户。</a:t>
            </a:r>
          </a:p>
          <a:p/>
          <a:p>
            <a:r>
              <a:t>入选后未开始，先检查是否收到通知、能否进入产品，以及学生是否知道怎样准备材料。已开始未完成，记录卡在资料、生成、修改还是交付，并询问原因。产品无法满足已公布的格式要求时，先处理功能和承诺问题，不通过提高奖金掩盖。</a:t>
            </a:r>
          </a:p>
          <a:p/>
          <a:p>
            <a:r>
              <a:t>建议比赛结束后三十天作为统一观察窗口，第七天和第三十天中性回访。再次使用需有独立的新题目，并亲自使用 Cheso 完成新作品。原参赛作品的后续修改、为研究布置的额外任务以及工作人员代做结果不计。免费或获资助的试用不证明付费意愿，少量完成也不证明长期留存。</a:t>
            </a:r>
          </a:p>
          <a:p/>
          <a:p>
            <a:r>
              <a:t>先报告全部合格首作主要操作者的人数，再列出完整观察、成功联系、有新需求、权限受限、失联和未满观察窗口的人数。条件再次完成率以有新需求且当时权限可用的完整观察操作者为分母，以其中核实完成独立新作品者为分子。分母为零时记为没有可判断的使用机会。仍须同时报告全部完整观察操作者中的再次完成人数，避免只展示容易成功的一部分。</a:t>
            </a:r>
          </a:p>
          <a:p/>
          <a:p>
            <a:r>
              <a:t>只有口头回访时注明自述，获得许可后核对操作记录或脱敏作品。记录回访时间，区分被提醒前后的使用。没有新需求与有需求却选择其他工具分开，权限和额度不足另列。授权案例数量作为内容成果，不替代完成作品或后续使用。</a:t>
            </a:r>
          </a:p>
          <a:p/>
          <a:p>
            <a:r>
              <a:t>结合辅导时间、产品消耗和实际支出讨论下一轮。发现可复现的完成体验且投入可承担，再商定下一轮规模。权限、素材隐私或兑现承诺存在未解决问题时，先处理相关问题并暂停扩大。不用少量样本声称已经证明校园推广有效。</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1"/>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01</a:t>
            </a:r>
            <a:endParaRPr sz="1575" b="0">
              <a:solidFill>
                <a:srgbClr val="171717"/>
              </a:solidFill>
              <a:latin typeface="Helvetica Neue" panose="02000503000000020004"/>
              <a:ea typeface="Helvetica Neue" panose="02000503000000020004"/>
              <a:cs typeface="Helvetica Neue" panose="02000503000000020004"/>
            </a:endParaRPr>
          </a:p>
        </p:txBody>
      </p:sp>
      <p:pic>
        <p:nvPicPr>
          <p:cNvPr id="18" name="图片 17"/>
          <p:cNvPicPr>
            <a:picLocks noChangeAspect="1"/>
          </p:cNvPicPr>
          <p:nvPr/>
        </p:nvPicPr>
        <p:blipFill>
          <a:blip r:embed="rId1"/>
          <a:stretch>
            <a:fillRect/>
          </a:stretch>
        </p:blipFill>
        <p:spPr>
          <a:xfrm>
            <a:off x="685800" y="666750"/>
            <a:ext cx="1565910" cy="434340"/>
          </a:xfrm>
          <a:prstGeom prst="rect">
            <a:avLst/>
          </a:prstGeom>
        </p:spPr>
      </p:pic>
      <p:sp>
        <p:nvSpPr>
          <p:cNvPr id="4" name="Background band"/>
          <p:cNvSpPr>
            <a:spLocks noGrp="1"/>
          </p:cNvSpPr>
          <p:nvPr/>
        </p:nvSpPr>
        <p:spPr>
          <a:xfrm>
            <a:off x="7667625" y="0"/>
            <a:ext cx="4524375" cy="6858000"/>
          </a:xfrm>
          <a:prstGeom prst="rect">
            <a:avLst/>
          </a:prstGeom>
          <a:solidFill>
            <a:srgbClr val="FFDA2A"/>
          </a:solidFill>
          <a:ln w="0">
            <a:noFill/>
          </a:ln>
        </p:spPr>
      </p:sp>
      <p:sp>
        <p:nvSpPr>
          <p:cNvPr id="5" name="小题"/>
          <p:cNvSpPr>
            <a:spLocks noGrp="1"/>
          </p:cNvSpPr>
          <p:nvPr/>
        </p:nvSpPr>
        <p:spPr>
          <a:xfrm>
            <a:off x="2495550" y="1266825"/>
            <a:ext cx="3714750" cy="2095500"/>
          </a:xfrm>
          <a:prstGeom prst="rect">
            <a:avLst/>
          </a:prstGeom>
          <a:noFill/>
          <a:ln w="0">
            <a:noFill/>
          </a:ln>
        </p:spPr>
        <p:txBody>
          <a:bodyPr wrap="square" lIns="0" tIns="0" rIns="0" bIns="0">
            <a:noAutofit/>
          </a:bodyPr>
          <a:lstStyle/>
          <a:p>
            <a:pPr>
              <a:buNone/>
              <a:defRPr sz="15150" b="1">
                <a:solidFill>
                  <a:srgbClr val="171717"/>
                </a:solidFill>
                <a:latin typeface="Hiragino Sans GB" panose="020B0300000000000000" charset="-122"/>
                <a:ea typeface="Hiragino Sans GB" panose="020B0300000000000000" charset="-122"/>
                <a:cs typeface="Hiragino Sans GB" panose="020B0300000000000000" charset="-122"/>
              </a:defRPr>
            </a:pPr>
            <a:r>
              <a:rPr sz="15150" b="1">
                <a:solidFill>
                  <a:srgbClr val="171717"/>
                </a:solidFill>
                <a:latin typeface="Hiragino Sans GB" panose="020B0300000000000000" charset="-122"/>
                <a:ea typeface="Hiragino Sans GB" panose="020B0300000000000000" charset="-122"/>
                <a:cs typeface="Hiragino Sans GB" panose="020B0300000000000000" charset="-122"/>
              </a:rPr>
              <a:t>题</a:t>
            </a:r>
            <a:endParaRPr sz="151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6" name="大作"/>
          <p:cNvSpPr>
            <a:spLocks noGrp="1"/>
          </p:cNvSpPr>
          <p:nvPr/>
        </p:nvSpPr>
        <p:spPr>
          <a:xfrm>
            <a:off x="600075" y="3343275"/>
            <a:ext cx="6810375" cy="2095500"/>
          </a:xfrm>
          <a:prstGeom prst="rect">
            <a:avLst/>
          </a:prstGeom>
          <a:noFill/>
          <a:ln w="0">
            <a:noFill/>
          </a:ln>
        </p:spPr>
        <p:txBody>
          <a:bodyPr wrap="square" lIns="0" tIns="0" rIns="0" bIns="0">
            <a:noAutofit/>
          </a:bodyPr>
          <a:lstStyle/>
          <a:p>
            <a:pPr>
              <a:buNone/>
              <a:defRPr sz="15150" b="1">
                <a:solidFill>
                  <a:srgbClr val="171717"/>
                </a:solidFill>
                <a:latin typeface="Hiragino Sans GB" panose="020B0300000000000000" charset="-122"/>
                <a:ea typeface="Hiragino Sans GB" panose="020B0300000000000000" charset="-122"/>
                <a:cs typeface="Hiragino Sans GB" panose="020B0300000000000000" charset="-122"/>
              </a:defRPr>
            </a:pPr>
            <a:r>
              <a:rPr sz="15150" b="1">
                <a:solidFill>
                  <a:srgbClr val="171717"/>
                </a:solidFill>
                <a:latin typeface="Hiragino Sans GB" panose="020B0300000000000000" charset="-122"/>
                <a:ea typeface="Hiragino Sans GB" panose="020B0300000000000000" charset="-122"/>
                <a:cs typeface="Hiragino Sans GB" panose="020B0300000000000000" charset="-122"/>
              </a:rPr>
              <a:t>大作</a:t>
            </a:r>
            <a:endParaRPr sz="151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7" name="你的题目，&#10;值得一份&#10;好作品。"/>
          <p:cNvSpPr>
            <a:spLocks noGrp="1"/>
          </p:cNvSpPr>
          <p:nvPr/>
        </p:nvSpPr>
        <p:spPr>
          <a:xfrm>
            <a:off x="8096250" y="2257425"/>
            <a:ext cx="3409950" cy="2362200"/>
          </a:xfrm>
          <a:prstGeom prst="rect">
            <a:avLst/>
          </a:prstGeom>
          <a:noFill/>
          <a:ln w="0">
            <a:noFill/>
          </a:ln>
        </p:spPr>
        <p:txBody>
          <a:bodyPr wrap="square" lIns="0" tIns="0" rIns="0" bIns="0">
            <a:noAutofit/>
          </a:bodyPr>
          <a:lstStyle/>
          <a:p>
            <a:pPr>
              <a:buNone/>
              <a:defRPr sz="3450" b="1">
                <a:solidFill>
                  <a:srgbClr val="171717"/>
                </a:solidFill>
                <a:latin typeface="Hiragino Sans GB" panose="020B0300000000000000" charset="-122"/>
                <a:ea typeface="Hiragino Sans GB" panose="020B0300000000000000" charset="-122"/>
                <a:cs typeface="Hiragino Sans GB" panose="020B0300000000000000" charset="-122"/>
              </a:defRPr>
            </a:pPr>
            <a:r>
              <a:rPr sz="3450" b="1">
                <a:solidFill>
                  <a:srgbClr val="171717"/>
                </a:solidFill>
                <a:latin typeface="Hiragino Sans GB" panose="020B0300000000000000" charset="-122"/>
                <a:ea typeface="Hiragino Sans GB" panose="020B0300000000000000" charset="-122"/>
                <a:cs typeface="Hiragino Sans GB" panose="020B0300000000000000" charset="-122"/>
              </a:rPr>
              <a:t>你的题目，</a:t>
            </a:r>
            <a:endParaRPr sz="3450"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3450" b="1">
                <a:solidFill>
                  <a:srgbClr val="171717"/>
                </a:solidFill>
                <a:latin typeface="Hiragino Sans GB" panose="020B0300000000000000" charset="-122"/>
                <a:ea typeface="Hiragino Sans GB" panose="020B0300000000000000" charset="-122"/>
                <a:cs typeface="Hiragino Sans GB" panose="020B0300000000000000" charset="-122"/>
              </a:defRPr>
            </a:pPr>
            <a:r>
              <a:rPr sz="3450" b="1">
                <a:solidFill>
                  <a:srgbClr val="171717"/>
                </a:solidFill>
                <a:latin typeface="Hiragino Sans GB" panose="020B0300000000000000" charset="-122"/>
                <a:ea typeface="Hiragino Sans GB" panose="020B0300000000000000" charset="-122"/>
                <a:cs typeface="Hiragino Sans GB" panose="020B0300000000000000" charset="-122"/>
              </a:rPr>
              <a:t>值得一份好作品。</a:t>
            </a:r>
            <a:endParaRPr sz="34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8" name="Cheso 深圳大学城&#10;校园创作挑战"/>
          <p:cNvSpPr>
            <a:spLocks noGrp="1"/>
          </p:cNvSpPr>
          <p:nvPr/>
        </p:nvSpPr>
        <p:spPr>
          <a:xfrm>
            <a:off x="8096250" y="5038725"/>
            <a:ext cx="3409950" cy="876300"/>
          </a:xfrm>
          <a:prstGeom prst="rect">
            <a:avLst/>
          </a:prstGeom>
          <a:noFill/>
          <a:ln w="0">
            <a:noFill/>
          </a:ln>
        </p:spPr>
        <p:txBody>
          <a:bodyPr wrap="square" lIns="0" tIns="0" rIns="0" bIns="0">
            <a:noAutofit/>
          </a:bodyPr>
          <a:lstStyle/>
          <a:p>
            <a:pPr>
              <a:buNone/>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Cheso 深圳大学城</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校园创作赛提案</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9" name="校园推广试点提案"/>
          <p:cNvSpPr>
            <a:spLocks noGrp="1"/>
          </p:cNvSpPr>
          <p:nvPr/>
        </p:nvSpPr>
        <p:spPr>
          <a:xfrm>
            <a:off x="685800" y="6134100"/>
            <a:ext cx="6048375" cy="323850"/>
          </a:xfrm>
          <a:prstGeom prst="rect">
            <a:avLst/>
          </a:prstGeom>
          <a:noFill/>
          <a:ln w="0">
            <a:noFill/>
          </a:ln>
        </p:spPr>
        <p:txBody>
          <a:bodyPr wrap="square" lIns="0" tIns="0" rIns="0" bIns="0">
            <a:noAutofit/>
          </a:bodyPr>
          <a:lstStyle/>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深圳大学城校园推广提案</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2" name="Cover 小"/>
          <p:cNvSpPr>
            <a:spLocks noGrp="1"/>
          </p:cNvSpPr>
          <p:nvPr/>
        </p:nvSpPr>
        <p:spPr>
          <a:xfrm>
            <a:off x="895350" y="1676400"/>
            <a:ext cx="1905000" cy="1619250"/>
          </a:xfrm>
          <a:prstGeom prst="rect">
            <a:avLst/>
          </a:prstGeom>
          <a:noFill/>
          <a:ln w="0">
            <a:noFill/>
          </a:ln>
        </p:spPr>
        <p:txBody>
          <a:bodyPr wrap="square" lIns="0" tIns="0" rIns="0" bIns="0">
            <a:noAutofit/>
          </a:bodyPr>
          <a:lstStyle/>
          <a:p>
            <a:pPr>
              <a:buNone/>
              <a:defRPr sz="11250" b="1">
                <a:solidFill>
                  <a:srgbClr val="171717"/>
                </a:solidFill>
                <a:latin typeface="Hiragino Sans GB" panose="020B0300000000000000" charset="-122"/>
                <a:ea typeface="Hiragino Sans GB" panose="020B0300000000000000" charset="-122"/>
                <a:cs typeface="Hiragino Sans GB" panose="020B0300000000000000" charset="-122"/>
              </a:defRPr>
            </a:pPr>
            <a:r>
              <a:rPr sz="11250" b="1">
                <a:solidFill>
                  <a:srgbClr val="171717"/>
                </a:solidFill>
                <a:latin typeface="Hiragino Sans GB" panose="020B0300000000000000" charset="-122"/>
                <a:ea typeface="Hiragino Sans GB" panose="020B0300000000000000" charset="-122"/>
                <a:cs typeface="Hiragino Sans GB" panose="020B0300000000000000" charset="-122"/>
              </a:rPr>
              <a:t>小</a:t>
            </a:r>
            <a:endParaRPr sz="112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3" name="Cover “"/>
          <p:cNvSpPr>
            <a:spLocks noGrp="1"/>
          </p:cNvSpPr>
          <p:nvPr/>
        </p:nvSpPr>
        <p:spPr>
          <a:xfrm>
            <a:off x="533400" y="1676400"/>
            <a:ext cx="685800" cy="590550"/>
          </a:xfrm>
          <a:prstGeom prst="rect">
            <a:avLst/>
          </a:prstGeom>
          <a:noFill/>
          <a:ln w="0">
            <a:noFill/>
          </a:ln>
        </p:spPr>
        <p:txBody>
          <a:bodyPr wrap="square" lIns="0" tIns="0" rIns="0" bIns="0">
            <a:noAutofit/>
          </a:bodyPr>
          <a:lstStyle/>
          <a:p>
            <a:pPr>
              <a:buNone/>
              <a:defRPr sz="4350" b="1">
                <a:solidFill>
                  <a:srgbClr val="FFDA2A"/>
                </a:solidFill>
                <a:latin typeface="Hiragino Sans GB" panose="020B0300000000000000" charset="-122"/>
                <a:ea typeface="Hiragino Sans GB" panose="020B0300000000000000" charset="-122"/>
                <a:cs typeface="Hiragino Sans GB" panose="020B0300000000000000" charset="-122"/>
              </a:defRPr>
            </a:pPr>
            <a:r>
              <a:rPr sz="4350" b="1">
                <a:solidFill>
                  <a:srgbClr val="FFDA2A"/>
                </a:solidFill>
                <a:latin typeface="Hiragino Sans GB" panose="020B0300000000000000" charset="-122"/>
                <a:ea typeface="Hiragino Sans GB" panose="020B0300000000000000" charset="-122"/>
                <a:cs typeface="Hiragino Sans GB" panose="020B0300000000000000" charset="-122"/>
              </a:rPr>
              <a:t>“</a:t>
            </a:r>
            <a:endParaRPr sz="4350" b="1">
              <a:solidFill>
                <a:srgbClr val="FFDA2A"/>
              </a:solidFill>
              <a:latin typeface="Hiragino Sans GB" panose="020B0300000000000000" charset="-122"/>
              <a:ea typeface="Hiragino Sans GB" panose="020B0300000000000000" charset="-122"/>
              <a:cs typeface="Hiragino Sans GB" panose="020B0300000000000000" charset="-122"/>
            </a:endParaRPr>
          </a:p>
        </p:txBody>
      </p:sp>
      <p:sp>
        <p:nvSpPr>
          <p:cNvPr id="14" name="Cover ”"/>
          <p:cNvSpPr>
            <a:spLocks noGrp="1"/>
          </p:cNvSpPr>
          <p:nvPr/>
        </p:nvSpPr>
        <p:spPr>
          <a:xfrm>
            <a:off x="2114550" y="1676400"/>
            <a:ext cx="685800" cy="590550"/>
          </a:xfrm>
          <a:prstGeom prst="rect">
            <a:avLst/>
          </a:prstGeom>
          <a:noFill/>
          <a:ln w="0">
            <a:noFill/>
          </a:ln>
        </p:spPr>
        <p:txBody>
          <a:bodyPr wrap="square" lIns="0" tIns="0" rIns="0" bIns="0">
            <a:noAutofit/>
          </a:bodyPr>
          <a:lstStyle/>
          <a:p>
            <a:pPr>
              <a:buNone/>
              <a:defRPr sz="4350" b="1">
                <a:solidFill>
                  <a:srgbClr val="FFDA2A"/>
                </a:solidFill>
                <a:latin typeface="Hiragino Sans GB" panose="020B0300000000000000" charset="-122"/>
                <a:ea typeface="Hiragino Sans GB" panose="020B0300000000000000" charset="-122"/>
                <a:cs typeface="Hiragino Sans GB" panose="020B0300000000000000" charset="-122"/>
              </a:defRPr>
            </a:pPr>
            <a:r>
              <a:rPr sz="4350" b="1">
                <a:solidFill>
                  <a:srgbClr val="FFDA2A"/>
                </a:solidFill>
                <a:latin typeface="Hiragino Sans GB" panose="020B0300000000000000" charset="-122"/>
                <a:ea typeface="Hiragino Sans GB" panose="020B0300000000000000" charset="-122"/>
                <a:cs typeface="Hiragino Sans GB" panose="020B0300000000000000" charset="-122"/>
              </a:rPr>
              <a:t>”</a:t>
            </a:r>
            <a:endParaRPr sz="4350" b="1">
              <a:solidFill>
                <a:srgbClr val="FFDA2A"/>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2"/>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02</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产品与活动目标"/>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Cheso 校园创作赛</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一份真实任务，让学生认识 Cheso"/>
          <p:cNvSpPr>
            <a:spLocks noGrp="1"/>
          </p:cNvSpPr>
          <p:nvPr/>
        </p:nvSpPr>
        <p:spPr>
          <a:xfrm>
            <a:off x="685800" y="1685925"/>
            <a:ext cx="10820400" cy="447675"/>
          </a:xfrm>
          <a:prstGeom prst="rect">
            <a:avLst/>
          </a:prstGeom>
          <a:noFill/>
          <a:ln w="0">
            <a:noFill/>
          </a:ln>
        </p:spPr>
        <p:txBody>
          <a:bodyPr wrap="square" lIns="0" tIns="0" rIns="0" bIns="0">
            <a:noAutofit/>
          </a:bodyPr>
          <a:lstStyle/>
          <a:p>
            <a:pPr>
              <a:buNone/>
              <a:defRPr sz="2175" b="0">
                <a:solidFill>
                  <a:srgbClr val="171717"/>
                </a:solidFill>
                <a:latin typeface="Hiragino Sans GB" panose="020B0300000000000000" charset="-122"/>
                <a:ea typeface="Hiragino Sans GB" panose="020B0300000000000000" charset="-122"/>
                <a:cs typeface="Hiragino Sans GB" panose="020B0300000000000000" charset="-122"/>
              </a:defRPr>
            </a:pPr>
            <a:r>
              <a:rPr sz="2175" b="0">
                <a:solidFill>
                  <a:srgbClr val="171717"/>
                </a:solidFill>
                <a:latin typeface="Hiragino Sans GB" panose="020B0300000000000000" charset="-122"/>
                <a:ea typeface="Hiragino Sans GB" panose="020B0300000000000000" charset="-122"/>
                <a:cs typeface="Hiragino Sans GB" panose="020B0300000000000000" charset="-122"/>
              </a:rPr>
              <a:t>自选一个身边的题目，用 Cheso 做成一份让人眼前一亮的作品。</a:t>
            </a:r>
            <a:endParaRPr sz="2175" b="0">
              <a:solidFill>
                <a:srgbClr val="171717"/>
              </a:solidFill>
              <a:latin typeface="Hiragino Sans GB" panose="020B0300000000000000" charset="-122"/>
              <a:ea typeface="Hiragino Sans GB" panose="020B0300000000000000" charset="-122"/>
              <a:cs typeface="Hiragino Sans GB" panose="020B0300000000000000" charset="-122"/>
            </a:endParaRPr>
          </a:p>
        </p:txBody>
      </p:sp>
      <p:pic>
        <p:nvPicPr>
          <p:cNvPr id="19" name="图片 18"/>
          <p:cNvPicPr>
            <a:picLocks noChangeAspect="1"/>
          </p:cNvPicPr>
          <p:nvPr/>
        </p:nvPicPr>
        <p:blipFill>
          <a:blip r:embed="rId1"/>
          <a:stretch>
            <a:fillRect/>
          </a:stretch>
        </p:blipFill>
        <p:spPr>
          <a:xfrm>
            <a:off x="571500" y="2544052"/>
            <a:ext cx="7372350" cy="3484395"/>
          </a:xfrm>
          <a:prstGeom prst="rect">
            <a:avLst/>
          </a:prstGeom>
        </p:spPr>
      </p:pic>
      <p:sp>
        <p:nvSpPr>
          <p:cNvPr id="6" name="01"/>
          <p:cNvSpPr>
            <a:spLocks noGrp="1"/>
          </p:cNvSpPr>
          <p:nvPr/>
        </p:nvSpPr>
        <p:spPr>
          <a:xfrm>
            <a:off x="8315325" y="2505075"/>
            <a:ext cx="666750" cy="457200"/>
          </a:xfrm>
          <a:prstGeom prst="rect">
            <a:avLst/>
          </a:prstGeom>
          <a:noFill/>
          <a:ln w="0">
            <a:noFill/>
          </a:ln>
        </p:spPr>
        <p:txBody>
          <a:bodyPr wrap="square" lIns="0" tIns="0" rIns="0" bIns="0">
            <a:noAutofit/>
          </a:bodyPr>
          <a:lstStyle/>
          <a:p>
            <a:pPr>
              <a:buNone/>
              <a:defRPr sz="2625" b="1">
                <a:solidFill>
                  <a:srgbClr val="171717"/>
                </a:solidFill>
                <a:latin typeface="Helvetica Neue" panose="02000503000000020004"/>
                <a:ea typeface="Helvetica Neue" panose="02000503000000020004"/>
                <a:cs typeface="Helvetica Neue" panose="02000503000000020004"/>
              </a:defRPr>
            </a:pPr>
            <a:r>
              <a:rPr sz="2625" b="1">
                <a:solidFill>
                  <a:srgbClr val="171717"/>
                </a:solidFill>
                <a:latin typeface="Helvetica Neue" panose="02000503000000020004"/>
                <a:ea typeface="Helvetica Neue" panose="02000503000000020004"/>
                <a:cs typeface="Helvetica Neue" panose="02000503000000020004"/>
              </a:rPr>
              <a:t>01</a:t>
            </a:r>
            <a:endParaRPr sz="2625" b="1">
              <a:solidFill>
                <a:srgbClr val="171717"/>
              </a:solidFill>
              <a:latin typeface="Helvetica Neue" panose="02000503000000020004"/>
              <a:ea typeface="Helvetica Neue" panose="02000503000000020004"/>
              <a:cs typeface="Helvetica Neue" panose="02000503000000020004"/>
            </a:endParaRPr>
          </a:p>
        </p:txBody>
      </p:sp>
      <p:sp>
        <p:nvSpPr>
          <p:cNvPr id="7" name="带着真实任务体验"/>
          <p:cNvSpPr>
            <a:spLocks noGrp="1"/>
          </p:cNvSpPr>
          <p:nvPr/>
        </p:nvSpPr>
        <p:spPr>
          <a:xfrm>
            <a:off x="8315325" y="2971800"/>
            <a:ext cx="3181350" cy="466725"/>
          </a:xfrm>
          <a:prstGeom prst="rect">
            <a:avLst/>
          </a:prstGeom>
          <a:noFill/>
          <a:ln w="0">
            <a:noFill/>
          </a:ln>
        </p:spPr>
        <p:txBody>
          <a:bodyPr wrap="square" lIns="0" tIns="0" rIns="0" bIns="0">
            <a:noAutofit/>
          </a:bodyPr>
          <a:lstStyle/>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b="1">
                <a:solidFill>
                  <a:srgbClr val="171717"/>
                </a:solidFill>
                <a:latin typeface="Hiragino Sans GB" panose="020B0300000000000000" charset="-122"/>
                <a:ea typeface="Hiragino Sans GB" panose="020B0300000000000000" charset="-122"/>
                <a:cs typeface="Hiragino Sans GB" panose="020B0300000000000000" charset="-122"/>
              </a:rPr>
              <a:t>选题由你决定</a:t>
            </a:r>
            <a:endParaRPr sz="187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8" name="02"/>
          <p:cNvSpPr>
            <a:spLocks noGrp="1"/>
          </p:cNvSpPr>
          <p:nvPr/>
        </p:nvSpPr>
        <p:spPr>
          <a:xfrm>
            <a:off x="8315325" y="3571875"/>
            <a:ext cx="666750" cy="457200"/>
          </a:xfrm>
          <a:prstGeom prst="rect">
            <a:avLst/>
          </a:prstGeom>
          <a:noFill/>
          <a:ln w="0">
            <a:noFill/>
          </a:ln>
        </p:spPr>
        <p:txBody>
          <a:bodyPr wrap="square" lIns="0" tIns="0" rIns="0" bIns="0">
            <a:noAutofit/>
          </a:bodyPr>
          <a:lstStyle/>
          <a:p>
            <a:pPr>
              <a:buNone/>
              <a:defRPr sz="2625" b="1">
                <a:solidFill>
                  <a:srgbClr val="171717"/>
                </a:solidFill>
                <a:latin typeface="Helvetica Neue" panose="02000503000000020004"/>
                <a:ea typeface="Helvetica Neue" panose="02000503000000020004"/>
                <a:cs typeface="Helvetica Neue" panose="02000503000000020004"/>
              </a:defRPr>
            </a:pPr>
            <a:r>
              <a:rPr sz="2625" b="1">
                <a:solidFill>
                  <a:srgbClr val="171717"/>
                </a:solidFill>
                <a:latin typeface="Helvetica Neue" panose="02000503000000020004"/>
                <a:ea typeface="Helvetica Neue" panose="02000503000000020004"/>
                <a:cs typeface="Helvetica Neue" panose="02000503000000020004"/>
              </a:rPr>
              <a:t>02</a:t>
            </a:r>
            <a:endParaRPr sz="2625" b="1">
              <a:solidFill>
                <a:srgbClr val="171717"/>
              </a:solidFill>
              <a:latin typeface="Helvetica Neue" panose="02000503000000020004"/>
              <a:ea typeface="Helvetica Neue" panose="02000503000000020004"/>
              <a:cs typeface="Helvetica Neue" panose="02000503000000020004"/>
            </a:endParaRPr>
          </a:p>
        </p:txBody>
      </p:sp>
      <p:sp>
        <p:nvSpPr>
          <p:cNvPr id="9" name="做出惊艳且可用的作品"/>
          <p:cNvSpPr>
            <a:spLocks noGrp="1"/>
          </p:cNvSpPr>
          <p:nvPr/>
        </p:nvSpPr>
        <p:spPr>
          <a:xfrm>
            <a:off x="8315325" y="4038600"/>
            <a:ext cx="3181350" cy="466725"/>
          </a:xfrm>
          <a:prstGeom prst="rect">
            <a:avLst/>
          </a:prstGeom>
          <a:noFill/>
          <a:ln w="0">
            <a:noFill/>
          </a:ln>
        </p:spPr>
        <p:txBody>
          <a:bodyPr wrap="square" lIns="0" tIns="0" rIns="0" bIns="0">
            <a:noAutofit/>
          </a:bodyPr>
          <a:lstStyle/>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b="1">
                <a:solidFill>
                  <a:srgbClr val="171717"/>
                </a:solidFill>
                <a:latin typeface="Hiragino Sans GB" panose="020B0300000000000000" charset="-122"/>
                <a:ea typeface="Hiragino Sans GB" panose="020B0300000000000000" charset="-122"/>
                <a:cs typeface="Hiragino Sans GB" panose="020B0300000000000000" charset="-122"/>
              </a:rPr>
              <a:t>制作一份 PPT 或海报</a:t>
            </a:r>
            <a:endParaRPr sz="187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0" name="03"/>
          <p:cNvSpPr>
            <a:spLocks noGrp="1"/>
          </p:cNvSpPr>
          <p:nvPr/>
        </p:nvSpPr>
        <p:spPr>
          <a:xfrm>
            <a:off x="8315325" y="4638675"/>
            <a:ext cx="666750" cy="457200"/>
          </a:xfrm>
          <a:prstGeom prst="rect">
            <a:avLst/>
          </a:prstGeom>
          <a:noFill/>
          <a:ln w="0">
            <a:noFill/>
          </a:ln>
        </p:spPr>
        <p:txBody>
          <a:bodyPr wrap="square" lIns="0" tIns="0" rIns="0" bIns="0">
            <a:noAutofit/>
          </a:bodyPr>
          <a:lstStyle/>
          <a:p>
            <a:pPr>
              <a:buNone/>
              <a:defRPr sz="2625" b="1">
                <a:solidFill>
                  <a:srgbClr val="171717"/>
                </a:solidFill>
                <a:latin typeface="Helvetica Neue" panose="02000503000000020004"/>
                <a:ea typeface="Helvetica Neue" panose="02000503000000020004"/>
                <a:cs typeface="Helvetica Neue" panose="02000503000000020004"/>
              </a:defRPr>
            </a:pPr>
            <a:r>
              <a:rPr sz="2625" b="1">
                <a:solidFill>
                  <a:srgbClr val="171717"/>
                </a:solidFill>
                <a:latin typeface="Helvetica Neue" panose="02000503000000020004"/>
                <a:ea typeface="Helvetica Neue" panose="02000503000000020004"/>
                <a:cs typeface="Helvetica Neue" panose="02000503000000020004"/>
              </a:rPr>
              <a:t>03</a:t>
            </a:r>
            <a:endParaRPr sz="2625" b="1">
              <a:solidFill>
                <a:srgbClr val="171717"/>
              </a:solidFill>
              <a:latin typeface="Helvetica Neue" panose="02000503000000020004"/>
              <a:ea typeface="Helvetica Neue" panose="02000503000000020004"/>
              <a:cs typeface="Helvetica Neue" panose="02000503000000020004"/>
            </a:endParaRPr>
          </a:p>
        </p:txBody>
      </p:sp>
      <p:sp>
        <p:nvSpPr>
          <p:cNvPr id="11" name="下次有任务仍愿意使用"/>
          <p:cNvSpPr>
            <a:spLocks noGrp="1"/>
          </p:cNvSpPr>
          <p:nvPr/>
        </p:nvSpPr>
        <p:spPr>
          <a:xfrm>
            <a:off x="8315325" y="5105400"/>
            <a:ext cx="3181350" cy="466725"/>
          </a:xfrm>
          <a:prstGeom prst="rect">
            <a:avLst/>
          </a:prstGeom>
          <a:noFill/>
          <a:ln w="0">
            <a:noFill/>
          </a:ln>
        </p:spPr>
        <p:txBody>
          <a:bodyPr wrap="square" lIns="0" tIns="0" rIns="0" bIns="0">
            <a:noAutofit/>
          </a:bodyPr>
          <a:lstStyle/>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b="1">
                <a:solidFill>
                  <a:srgbClr val="171717"/>
                </a:solidFill>
                <a:latin typeface="Hiragino Sans GB" panose="020B0300000000000000" charset="-122"/>
                <a:ea typeface="Hiragino Sans GB" panose="020B0300000000000000" charset="-122"/>
                <a:cs typeface="Hiragino Sans GB" panose="020B0300000000000000" charset="-122"/>
              </a:rPr>
              <a:t>提交作品，参加评选</a:t>
            </a:r>
            <a:endParaRPr sz="187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2" name="产品内测中，功能以实测为准。官方材料展示 PPT、海报与研究分析"/>
          <p:cNvSpPr>
            <a:spLocks noGrp="1"/>
          </p:cNvSpPr>
          <p:nvPr/>
        </p:nvSpPr>
        <p:spPr>
          <a:xfrm>
            <a:off x="685800" y="6200775"/>
            <a:ext cx="10820400" cy="419100"/>
          </a:xfrm>
          <a:prstGeom prst="rect">
            <a:avLst/>
          </a:prstGeom>
          <a:noFill/>
          <a:ln w="0">
            <a:noFill/>
          </a:ln>
        </p:spPr>
        <p:txBody>
          <a:bodyPr wrap="square" lIns="0" tIns="0" rIns="0" bIns="0">
            <a:noAutofit/>
          </a:bodyPr>
          <a:lstStyle/>
          <a:p>
            <a:pPr>
              <a:buNone/>
              <a:defRPr sz="1350" b="0">
                <a:solidFill>
                  <a:srgbClr val="171717"/>
                </a:solidFill>
                <a:latin typeface="Hiragino Sans GB" panose="020B0300000000000000" charset="-122"/>
                <a:ea typeface="Hiragino Sans GB" panose="020B0300000000000000" charset="-122"/>
                <a:cs typeface="Hiragino Sans GB" panose="020B0300000000000000" charset="-122"/>
              </a:defRPr>
            </a:pPr>
            <a:r>
              <a:rPr sz="1350" b="0">
                <a:solidFill>
                  <a:srgbClr val="171717"/>
                </a:solidFill>
                <a:latin typeface="Hiragino Sans GB" panose="020B0300000000000000" charset="-122"/>
                <a:ea typeface="Hiragino Sans GB" panose="020B0300000000000000" charset="-122"/>
                <a:cs typeface="Hiragino Sans GB" panose="020B0300000000000000" charset="-122"/>
              </a:rPr>
              <a:t>推广目标是让学生亲手体验 Cheso，留下好作品，并了解新的表达需求出现时是否继续使用。</a:t>
            </a:r>
            <a:endParaRPr sz="13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DA2A"/>
        </a:solidFill>
        <a:effectLst/>
      </p:bgPr>
    </p:bg>
    <p:spTree>
      <p:nvGrpSpPr>
        <p:cNvPr id="1" name=""/>
        <p:cNvGrpSpPr/>
        <p:nvPr/>
      </p:nvGrpSpPr>
      <p:grpSpPr/>
      <p:sp>
        <p:nvSpPr>
          <p:cNvPr id="10"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3"/>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03</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推广策略"/>
          <p:cNvSpPr>
            <a:spLocks noGrp="1"/>
          </p:cNvSpPr>
          <p:nvPr/>
        </p:nvSpPr>
        <p:spPr>
          <a:xfrm>
            <a:off x="685800" y="885825"/>
            <a:ext cx="5715000" cy="581025"/>
          </a:xfrm>
          <a:prstGeom prst="rect">
            <a:avLst/>
          </a:prstGeom>
          <a:noFill/>
          <a:ln w="0">
            <a:noFill/>
          </a:ln>
        </p:spPr>
        <p:txBody>
          <a:bodyPr wrap="square" lIns="0" tIns="0" rIns="0" bIns="0">
            <a:noAutofit/>
          </a:bodyPr>
          <a:lstStyle/>
          <a:p>
            <a:pPr>
              <a:buNone/>
              <a:defRPr sz="3150" b="1">
                <a:solidFill>
                  <a:srgbClr val="171717"/>
                </a:solidFill>
                <a:latin typeface="Hiragino Sans GB" panose="020B0300000000000000" charset="-122"/>
                <a:ea typeface="Hiragino Sans GB" panose="020B0300000000000000" charset="-122"/>
                <a:cs typeface="Hiragino Sans GB" panose="020B0300000000000000" charset="-122"/>
              </a:defRPr>
            </a:pPr>
            <a:r>
              <a:rPr sz="3150" b="1">
                <a:solidFill>
                  <a:srgbClr val="171717"/>
                </a:solidFill>
                <a:latin typeface="Hiragino Sans GB" panose="020B0300000000000000" charset="-122"/>
                <a:ea typeface="Hiragino Sans GB" panose="020B0300000000000000" charset="-122"/>
                <a:cs typeface="Hiragino Sans GB" panose="020B0300000000000000" charset="-122"/>
              </a:rPr>
              <a:t>“小”题与大作，分别指什么</a:t>
            </a:r>
            <a:endParaRPr sz="31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进入学生&#10;本来就想&#10;完成的事情"/>
          <p:cNvSpPr>
            <a:spLocks noGrp="1"/>
          </p:cNvSpPr>
          <p:nvPr/>
        </p:nvSpPr>
        <p:spPr>
          <a:xfrm>
            <a:off x="619125" y="2028825"/>
            <a:ext cx="6629400" cy="3076575"/>
          </a:xfrm>
          <a:prstGeom prst="rect">
            <a:avLst/>
          </a:prstGeom>
          <a:noFill/>
          <a:ln w="0">
            <a:noFill/>
          </a:ln>
        </p:spPr>
        <p:txBody>
          <a:bodyPr wrap="square" lIns="0" tIns="0" rIns="0" bIns="0">
            <a:noAutofit/>
          </a:bodyPr>
          <a:lstStyle/>
          <a:p>
            <a:pPr>
              <a:buNone/>
              <a:defRPr sz="5250" b="1">
                <a:solidFill>
                  <a:srgbClr val="171717"/>
                </a:solidFill>
                <a:latin typeface="Hiragino Sans GB" panose="020B0300000000000000" charset="-122"/>
                <a:ea typeface="Hiragino Sans GB" panose="020B0300000000000000" charset="-122"/>
                <a:cs typeface="Hiragino Sans GB" panose="020B0300000000000000" charset="-122"/>
              </a:defRPr>
            </a:pPr>
            <a:r>
              <a:rPr sz="5250" b="1">
                <a:solidFill>
                  <a:srgbClr val="171717"/>
                </a:solidFill>
                <a:latin typeface="Hiragino Sans GB" panose="020B0300000000000000" charset="-122"/>
                <a:ea typeface="Hiragino Sans GB" panose="020B0300000000000000" charset="-122"/>
                <a:cs typeface="Hiragino Sans GB" panose="020B0300000000000000" charset="-122"/>
              </a:rPr>
              <a:t>你的日常，</a:t>
            </a:r>
            <a:endParaRPr sz="5250"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5250" b="1">
                <a:solidFill>
                  <a:srgbClr val="171717"/>
                </a:solidFill>
                <a:latin typeface="Hiragino Sans GB" panose="020B0300000000000000" charset="-122"/>
                <a:ea typeface="Hiragino Sans GB" panose="020B0300000000000000" charset="-122"/>
                <a:cs typeface="Hiragino Sans GB" panose="020B0300000000000000" charset="-122"/>
              </a:defRPr>
            </a:pPr>
            <a:r>
              <a:rPr sz="5250" b="1">
                <a:solidFill>
                  <a:srgbClr val="171717"/>
                </a:solidFill>
                <a:latin typeface="Hiragino Sans GB" panose="020B0300000000000000" charset="-122"/>
                <a:ea typeface="Hiragino Sans GB" panose="020B0300000000000000" charset="-122"/>
                <a:cs typeface="Hiragino Sans GB" panose="020B0300000000000000" charset="-122"/>
              </a:rPr>
              <a:t>也值得一次</a:t>
            </a:r>
            <a:endParaRPr sz="5250"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5250" b="1">
                <a:solidFill>
                  <a:srgbClr val="171717"/>
                </a:solidFill>
                <a:latin typeface="Hiragino Sans GB" panose="020B0300000000000000" charset="-122"/>
                <a:ea typeface="Hiragino Sans GB" panose="020B0300000000000000" charset="-122"/>
                <a:cs typeface="Hiragino Sans GB" panose="020B0300000000000000" charset="-122"/>
              </a:defRPr>
            </a:pPr>
            <a:r>
              <a:rPr sz="5250" b="1">
                <a:solidFill>
                  <a:srgbClr val="171717"/>
                </a:solidFill>
                <a:latin typeface="Hiragino Sans GB" panose="020B0300000000000000" charset="-122"/>
                <a:ea typeface="Hiragino Sans GB" panose="020B0300000000000000" charset="-122"/>
                <a:cs typeface="Hiragino Sans GB" panose="020B0300000000000000" charset="-122"/>
              </a:rPr>
              <a:t>精彩呈现。</a:t>
            </a:r>
            <a:endParaRPr sz="52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5" name="借鉴 Canva 大广赛命题机制"/>
          <p:cNvSpPr>
            <a:spLocks noGrp="1"/>
          </p:cNvSpPr>
          <p:nvPr/>
        </p:nvSpPr>
        <p:spPr>
          <a:xfrm>
            <a:off x="7496175" y="1962150"/>
            <a:ext cx="4010025" cy="1057275"/>
          </a:xfrm>
          <a:prstGeom prst="rect">
            <a:avLst/>
          </a:prstGeom>
          <a:noFill/>
          <a:ln w="0">
            <a:noFill/>
          </a:ln>
        </p:spPr>
        <p:txBody>
          <a:bodyPr wrap="square" lIns="0" tIns="0" rIns="0" bIns="0">
            <a:noAutofit/>
          </a:bodyPr>
          <a:lstStyle/>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a:solidFill>
                  <a:srgbClr val="171717"/>
                </a:solidFill>
                <a:latin typeface="Hiragino Sans GB W6" panose="020B0300000000000000" charset="-122"/>
                <a:ea typeface="Hiragino Sans GB W6" panose="020B0300000000000000" charset="-122"/>
                <a:cs typeface="Hiragino Sans GB W6" panose="020B0300000000000000" charset="-122"/>
              </a:rPr>
              <a:t>“小”</a:t>
            </a:r>
            <a:r>
              <a:rPr lang="zh-CN" sz="1875">
                <a:solidFill>
                  <a:srgbClr val="171717"/>
                </a:solidFill>
                <a:latin typeface="Hiragino Sans GB W6" panose="020B0300000000000000" charset="-122"/>
                <a:ea typeface="Hiragino Sans GB W6" panose="020B0300000000000000" charset="-122"/>
                <a:cs typeface="Hiragino Sans GB W6" panose="020B0300000000000000" charset="-122"/>
              </a:rPr>
              <a:t>题</a:t>
            </a:r>
            <a:r>
              <a:rPr sz="1875">
                <a:solidFill>
                  <a:srgbClr val="171717"/>
                </a:solidFill>
                <a:latin typeface="Hiragino Sans GB W6" panose="020B0300000000000000" charset="-122"/>
                <a:ea typeface="Hiragino Sans GB W6" panose="020B0300000000000000" charset="-122"/>
                <a:cs typeface="Hiragino Sans GB W6" panose="020B0300000000000000" charset="-122"/>
              </a:rPr>
              <a:t>是身边的事情</a:t>
            </a:r>
            <a:endParaRPr sz="1875">
              <a:solidFill>
                <a:srgbClr val="171717"/>
              </a:solidFill>
              <a:latin typeface="Hiragino Sans GB W6" panose="020B0300000000000000" charset="-122"/>
              <a:ea typeface="Hiragino Sans GB W6" panose="020B0300000000000000" charset="-122"/>
              <a:cs typeface="Hiragino Sans GB W6" panose="020B0300000000000000" charset="-122"/>
            </a:endParaRPr>
          </a:p>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a:solidFill>
                  <a:srgbClr val="171717"/>
                </a:solidFill>
                <a:latin typeface="Hiragino Sans GB W6" panose="020B0300000000000000" charset="-122"/>
                <a:ea typeface="Hiragino Sans GB W6" panose="020B0300000000000000" charset="-122"/>
                <a:cs typeface="Hiragino Sans GB W6" panose="020B0300000000000000" charset="-122"/>
              </a:rPr>
              <a:t>自己的兴趣、生活里的发现，</a:t>
            </a:r>
            <a:endParaRPr sz="1875">
              <a:solidFill>
                <a:srgbClr val="171717"/>
              </a:solidFill>
              <a:latin typeface="Hiragino Sans GB W6" panose="020B0300000000000000" charset="-122"/>
              <a:ea typeface="Hiragino Sans GB W6" panose="020B0300000000000000" charset="-122"/>
              <a:cs typeface="Hiragino Sans GB W6" panose="020B0300000000000000" charset="-122"/>
            </a:endParaRPr>
          </a:p>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a:solidFill>
                  <a:srgbClr val="171717"/>
                </a:solidFill>
                <a:latin typeface="Hiragino Sans GB W6" panose="020B0300000000000000" charset="-122"/>
                <a:ea typeface="Hiragino Sans GB W6" panose="020B0300000000000000" charset="-122"/>
                <a:cs typeface="Hiragino Sans GB W6" panose="020B0300000000000000" charset="-122"/>
              </a:rPr>
              <a:t>或小团队正在做的项目。</a:t>
            </a:r>
            <a:endParaRPr sz="1875">
              <a:solidFill>
                <a:srgbClr val="171717"/>
              </a:solidFill>
              <a:latin typeface="Hiragino Sans GB W6" panose="020B0300000000000000" charset="-122"/>
              <a:ea typeface="Hiragino Sans GB W6" panose="020B0300000000000000" charset="-122"/>
              <a:cs typeface="Hiragino Sans GB W6" panose="020B0300000000000000" charset="-122"/>
            </a:endParaRPr>
          </a:p>
        </p:txBody>
      </p:sp>
      <p:sp>
        <p:nvSpPr>
          <p:cNvPr id="6" name="产品体验与创作动机相连，&#10;学生完成自己想做的作品。"/>
          <p:cNvSpPr>
            <a:spLocks noGrp="1"/>
          </p:cNvSpPr>
          <p:nvPr/>
        </p:nvSpPr>
        <p:spPr>
          <a:xfrm>
            <a:off x="7496175" y="3209925"/>
            <a:ext cx="4010025" cy="1095375"/>
          </a:xfrm>
          <a:prstGeom prst="rect">
            <a:avLst/>
          </a:prstGeom>
          <a:noFill/>
          <a:ln w="0">
            <a:noFill/>
          </a:ln>
        </p:spPr>
        <p:txBody>
          <a:bodyPr wrap="square" lIns="0" tIns="0" rIns="0" bIns="0">
            <a:noAutofit/>
          </a:bodyPr>
          <a:lstStyle/>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1">
                <a:solidFill>
                  <a:srgbClr val="171717"/>
                </a:solidFill>
                <a:latin typeface="Hiragino Sans GB W6" panose="020B0300000000000000" charset="-122"/>
                <a:ea typeface="Hiragino Sans GB W6" panose="020B0300000000000000" charset="-122"/>
                <a:cs typeface="Hiragino Sans GB" panose="020B0300000000000000" charset="-122"/>
              </a:rPr>
              <a:t>大作</a:t>
            </a:r>
            <a:r>
              <a:rPr sz="1800" b="0">
                <a:solidFill>
                  <a:srgbClr val="171717"/>
                </a:solidFill>
                <a:latin typeface="Hiragino Sans GB" panose="020B0300000000000000" charset="-122"/>
                <a:ea typeface="Hiragino Sans GB" panose="020B0300000000000000" charset="-122"/>
                <a:cs typeface="Hiragino Sans GB" panose="020B0300000000000000" charset="-122"/>
              </a:rPr>
              <a:t>是更精彩的呈现</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0">
                <a:solidFill>
                  <a:srgbClr val="171717"/>
                </a:solidFill>
                <a:latin typeface="Hiragino Sans GB" panose="020B0300000000000000" charset="-122"/>
                <a:ea typeface="Hiragino Sans GB" panose="020B0300000000000000" charset="-122"/>
                <a:cs typeface="Hiragino Sans GB" panose="020B0300000000000000" charset="-122"/>
              </a:rPr>
              <a:t>借助 Cheso 整理内容、设计页面，</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0">
                <a:solidFill>
                  <a:srgbClr val="171717"/>
                </a:solidFill>
                <a:latin typeface="Hiragino Sans GB" panose="020B0300000000000000" charset="-122"/>
                <a:ea typeface="Hiragino Sans GB" panose="020B0300000000000000" charset="-122"/>
                <a:cs typeface="Hiragino Sans GB" panose="020B0300000000000000" charset="-122"/>
              </a:rPr>
              <a:t>让表达更清楚，画面更出彩。</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7" name="首轮联系一个校园组织，&#10;在已有活动中合作试点。"/>
          <p:cNvSpPr>
            <a:spLocks noGrp="1"/>
          </p:cNvSpPr>
          <p:nvPr/>
        </p:nvSpPr>
        <p:spPr>
          <a:xfrm>
            <a:off x="7496175" y="4524375"/>
            <a:ext cx="4095115" cy="1047750"/>
          </a:xfrm>
          <a:prstGeom prst="rect">
            <a:avLst/>
          </a:prstGeom>
          <a:noFill/>
          <a:ln w="0">
            <a:noFill/>
          </a:ln>
        </p:spPr>
        <p:txBody>
          <a:bodyPr wrap="square" lIns="0" tIns="0" rIns="0" bIns="0">
            <a:noAutofit/>
          </a:bodyPr>
          <a:lstStyle/>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b="1">
                <a:solidFill>
                  <a:srgbClr val="171717"/>
                </a:solidFill>
                <a:latin typeface="Hiragino Sans GB" panose="020B0300000000000000" charset="-122"/>
                <a:ea typeface="Hiragino Sans GB" panose="020B0300000000000000" charset="-122"/>
                <a:cs typeface="Hiragino Sans GB" panose="020B0300000000000000" charset="-122"/>
              </a:rPr>
              <a:t>题目</a:t>
            </a:r>
            <a:r>
              <a:rPr lang="zh-CN" sz="1875" b="1">
                <a:solidFill>
                  <a:srgbClr val="171717"/>
                </a:solidFill>
                <a:latin typeface="Hiragino Sans GB" panose="020B0300000000000000" charset="-122"/>
                <a:ea typeface="Hiragino Sans GB" panose="020B0300000000000000" charset="-122"/>
                <a:cs typeface="Hiragino Sans GB" panose="020B0300000000000000" charset="-122"/>
              </a:rPr>
              <a:t>并没有对“小”的范围有限制</a:t>
            </a:r>
            <a:r>
              <a:rPr lang="en-US" altLang="zh-CN" sz="1875" b="1">
                <a:solidFill>
                  <a:srgbClr val="171717"/>
                </a:solidFill>
                <a:latin typeface="Hiragino Sans GB" panose="020B0300000000000000" charset="-122"/>
                <a:ea typeface="Hiragino Sans GB" panose="020B0300000000000000" charset="-122"/>
                <a:cs typeface="Hiragino Sans GB" panose="020B0300000000000000" charset="-122"/>
              </a:rPr>
              <a:t>，</a:t>
            </a:r>
            <a:r>
              <a:rPr lang="zh-CN" altLang="en-US" sz="1875" b="1">
                <a:solidFill>
                  <a:srgbClr val="171717"/>
                </a:solidFill>
                <a:latin typeface="Hiragino Sans GB" panose="020B0300000000000000" charset="-122"/>
                <a:ea typeface="Hiragino Sans GB" panose="020B0300000000000000" charset="-122"/>
                <a:cs typeface="Hiragino Sans GB" panose="020B0300000000000000" charset="-122"/>
              </a:rPr>
              <a:t>无论是</a:t>
            </a:r>
            <a:r>
              <a:rPr sz="1875" b="1">
                <a:solidFill>
                  <a:srgbClr val="171717"/>
                </a:solidFill>
                <a:latin typeface="Hiragino Sans GB" panose="020B0300000000000000" charset="-122"/>
                <a:ea typeface="Hiragino Sans GB" panose="020B0300000000000000" charset="-122"/>
                <a:cs typeface="Hiragino Sans GB" panose="020B0300000000000000" charset="-122"/>
              </a:rPr>
              <a:t>今天吃了什么</a:t>
            </a:r>
            <a:r>
              <a:rPr lang="en-US" sz="1875" b="1">
                <a:solidFill>
                  <a:srgbClr val="171717"/>
                </a:solidFill>
                <a:latin typeface="Hiragino Sans GB" panose="020B0300000000000000" charset="-122"/>
                <a:ea typeface="Hiragino Sans GB" panose="020B0300000000000000" charset="-122"/>
                <a:cs typeface="Hiragino Sans GB" panose="020B0300000000000000" charset="-122"/>
              </a:rPr>
              <a:t>，</a:t>
            </a:r>
            <a:r>
              <a:rPr lang="zh-CN" altLang="en-US" sz="1875" b="1">
                <a:solidFill>
                  <a:srgbClr val="171717"/>
                </a:solidFill>
                <a:latin typeface="Hiragino Sans GB" panose="020B0300000000000000" charset="-122"/>
                <a:ea typeface="Hiragino Sans GB" panose="020B0300000000000000" charset="-122"/>
                <a:cs typeface="Hiragino Sans GB" panose="020B0300000000000000" charset="-122"/>
              </a:rPr>
              <a:t>要做什么</a:t>
            </a:r>
            <a:r>
              <a:rPr sz="1875" b="1">
                <a:solidFill>
                  <a:srgbClr val="171717"/>
                </a:solidFill>
                <a:latin typeface="Hiragino Sans GB" panose="020B0300000000000000" charset="-122"/>
                <a:ea typeface="Hiragino Sans GB" panose="020B0300000000000000" charset="-122"/>
                <a:cs typeface="Hiragino Sans GB" panose="020B0300000000000000" charset="-122"/>
              </a:rPr>
              <a:t>课堂汇报，</a:t>
            </a:r>
            <a:r>
              <a:rPr lang="zh-CN" sz="1875" b="1">
                <a:solidFill>
                  <a:srgbClr val="171717"/>
                </a:solidFill>
                <a:latin typeface="Hiragino Sans GB" panose="020B0300000000000000" charset="-122"/>
                <a:ea typeface="Hiragino Sans GB" panose="020B0300000000000000" charset="-122"/>
                <a:cs typeface="Hiragino Sans GB" panose="020B0300000000000000" charset="-122"/>
              </a:rPr>
              <a:t>还是</a:t>
            </a:r>
            <a:r>
              <a:rPr lang="en-US" altLang="zh-CN" sz="1875" b="1">
                <a:solidFill>
                  <a:srgbClr val="171717"/>
                </a:solidFill>
                <a:latin typeface="Hiragino Sans GB" panose="020B0300000000000000" charset="-122"/>
                <a:ea typeface="Hiragino Sans GB" panose="020B0300000000000000" charset="-122"/>
                <a:cs typeface="Hiragino Sans GB" panose="020B0300000000000000" charset="-122"/>
              </a:rPr>
              <a:t>XXX</a:t>
            </a:r>
            <a:r>
              <a:rPr lang="zh-CN" altLang="en-US" sz="1875" b="1">
                <a:solidFill>
                  <a:srgbClr val="171717"/>
                </a:solidFill>
                <a:latin typeface="Hiragino Sans GB" panose="020B0300000000000000" charset="-122"/>
                <a:ea typeface="Hiragino Sans GB" panose="020B0300000000000000" charset="-122"/>
                <a:cs typeface="Hiragino Sans GB" panose="020B0300000000000000" charset="-122"/>
              </a:rPr>
              <a:t>竞赛</a:t>
            </a:r>
            <a:r>
              <a:rPr sz="1875" b="1">
                <a:solidFill>
                  <a:srgbClr val="171717"/>
                </a:solidFill>
                <a:latin typeface="Hiragino Sans GB" panose="020B0300000000000000" charset="-122"/>
                <a:ea typeface="Hiragino Sans GB" panose="020B0300000000000000" charset="-122"/>
                <a:cs typeface="Hiragino Sans GB" panose="020B0300000000000000" charset="-122"/>
              </a:rPr>
              <a:t>都能成为参赛题目。</a:t>
            </a:r>
            <a:endParaRPr sz="187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8" name="Background band"/>
          <p:cNvSpPr>
            <a:spLocks noGrp="1"/>
          </p:cNvSpPr>
          <p:nvPr/>
        </p:nvSpPr>
        <p:spPr>
          <a:xfrm>
            <a:off x="623570" y="5876925"/>
            <a:ext cx="10820400" cy="9525"/>
          </a:xfrm>
          <a:prstGeom prst="rect">
            <a:avLst/>
          </a:prstGeom>
          <a:solidFill>
            <a:srgbClr val="171717"/>
          </a:solidFill>
          <a:ln w="0">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DA2A"/>
        </a:solidFill>
        <a:effectLst/>
      </p:bgPr>
    </p:bg>
    <p:spTree>
      <p:nvGrpSpPr>
        <p:cNvPr id="1" name=""/>
        <p:cNvGrpSpPr/>
        <p:nvPr/>
      </p:nvGrpSpPr>
      <p:grpSpPr/>
      <p:sp>
        <p:nvSpPr>
          <p:cNvPr id="13"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8"/>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04</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让作品带来下一位使用者"/>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发给同学的活动邀请</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这题，也值得&#10;做成一份作品？"/>
          <p:cNvSpPr>
            <a:spLocks noGrp="1"/>
          </p:cNvSpPr>
          <p:nvPr/>
        </p:nvSpPr>
        <p:spPr>
          <a:xfrm>
            <a:off x="647700" y="2066925"/>
            <a:ext cx="7000875" cy="1533525"/>
          </a:xfrm>
          <a:prstGeom prst="rect">
            <a:avLst/>
          </a:prstGeom>
          <a:noFill/>
          <a:ln w="0">
            <a:noFill/>
          </a:ln>
        </p:spPr>
        <p:txBody>
          <a:bodyPr wrap="square" lIns="0" tIns="0" rIns="0" bIns="0">
            <a:noAutofit/>
          </a:bodyPr>
          <a:lstStyle/>
          <a:p>
            <a:pPr>
              <a:buNone/>
              <a:defRPr sz="3675" b="1">
                <a:solidFill>
                  <a:srgbClr val="171717"/>
                </a:solidFill>
                <a:latin typeface="Hiragino Sans GB" panose="020B0300000000000000" charset="-122"/>
                <a:ea typeface="Hiragino Sans GB" panose="020B0300000000000000" charset="-122"/>
                <a:cs typeface="Hiragino Sans GB" panose="020B0300000000000000" charset="-122"/>
              </a:defRPr>
            </a:pPr>
            <a:r>
              <a:rPr sz="3675" b="1">
                <a:solidFill>
                  <a:srgbClr val="171717"/>
                </a:solidFill>
                <a:latin typeface="Hiragino Sans GB" panose="020B0300000000000000" charset="-122"/>
                <a:ea typeface="Hiragino Sans GB" panose="020B0300000000000000" charset="-122"/>
                <a:cs typeface="Hiragino Sans GB" panose="020B0300000000000000" charset="-122"/>
              </a:rPr>
              <a:t>今天吃了什么，</a:t>
            </a:r>
            <a:endParaRPr sz="3675"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3675" b="1">
                <a:solidFill>
                  <a:srgbClr val="171717"/>
                </a:solidFill>
                <a:latin typeface="Hiragino Sans GB" panose="020B0300000000000000" charset="-122"/>
                <a:ea typeface="Hiragino Sans GB" panose="020B0300000000000000" charset="-122"/>
                <a:cs typeface="Hiragino Sans GB" panose="020B0300000000000000" charset="-122"/>
              </a:defRPr>
            </a:pPr>
            <a:r>
              <a:rPr sz="3675" b="1">
                <a:solidFill>
                  <a:srgbClr val="171717"/>
                </a:solidFill>
                <a:latin typeface="Hiragino Sans GB" panose="020B0300000000000000" charset="-122"/>
                <a:ea typeface="Hiragino Sans GB" panose="020B0300000000000000" charset="-122"/>
                <a:cs typeface="Hiragino Sans GB" panose="020B0300000000000000" charset="-122"/>
              </a:rPr>
              <a:t>也值得做个精彩的汇报。</a:t>
            </a:r>
            <a:endParaRPr sz="367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5" name="这份招新介绍，&#10;能让你想加入我们社团吗？"/>
          <p:cNvSpPr>
            <a:spLocks noGrp="1"/>
          </p:cNvSpPr>
          <p:nvPr/>
        </p:nvSpPr>
        <p:spPr>
          <a:xfrm>
            <a:off x="685800" y="4114800"/>
            <a:ext cx="6962775" cy="1000125"/>
          </a:xfrm>
          <a:prstGeom prst="rect">
            <a:avLst/>
          </a:prstGeom>
          <a:noFill/>
          <a:ln w="0">
            <a:noFill/>
          </a:ln>
        </p:spPr>
        <p:txBody>
          <a:bodyPr wrap="square" lIns="0" tIns="0" rIns="0" bIns="0">
            <a:noAutofit/>
          </a:bodyPr>
          <a:lstStyle/>
          <a:p>
            <a:pPr>
              <a:buNone/>
              <a:defRPr sz="2700" b="1">
                <a:solidFill>
                  <a:srgbClr val="171717"/>
                </a:solidFill>
                <a:latin typeface="Hiragino Sans GB" panose="020B0300000000000000" charset="-122"/>
                <a:ea typeface="Hiragino Sans GB" panose="020B0300000000000000" charset="-122"/>
                <a:cs typeface="Hiragino Sans GB" panose="020B0300000000000000" charset="-122"/>
              </a:defRPr>
            </a:pPr>
            <a:r>
              <a:rPr sz="2700" b="1">
                <a:solidFill>
                  <a:srgbClr val="171717"/>
                </a:solidFill>
                <a:latin typeface="Hiragino Sans GB" panose="020B0300000000000000" charset="-122"/>
                <a:ea typeface="Hiragino Sans GB" panose="020B0300000000000000" charset="-122"/>
                <a:cs typeface="Hiragino Sans GB" panose="020B0300000000000000" charset="-122"/>
              </a:rPr>
              <a:t>“小”题大作</a:t>
            </a:r>
            <a:endParaRPr sz="2700"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2700" b="1">
                <a:solidFill>
                  <a:srgbClr val="171717"/>
                </a:solidFill>
                <a:latin typeface="Hiragino Sans GB" panose="020B0300000000000000" charset="-122"/>
                <a:ea typeface="Hiragino Sans GB" panose="020B0300000000000000" charset="-122"/>
                <a:cs typeface="Hiragino Sans GB" panose="020B0300000000000000" charset="-122"/>
              </a:defRPr>
            </a:pPr>
            <a:r>
              <a:rPr sz="2700" b="1">
                <a:solidFill>
                  <a:srgbClr val="171717"/>
                </a:solidFill>
                <a:latin typeface="Hiragino Sans GB" panose="020B0300000000000000" charset="-122"/>
                <a:ea typeface="Hiragino Sans GB" panose="020B0300000000000000" charset="-122"/>
                <a:cs typeface="Hiragino Sans GB" panose="020B0300000000000000" charset="-122"/>
              </a:rPr>
              <a:t>Cheso 校园创作赛</a:t>
            </a:r>
            <a:endParaRPr sz="27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6" name="拟用内容标题"/>
          <p:cNvSpPr>
            <a:spLocks noGrp="1"/>
          </p:cNvSpPr>
          <p:nvPr/>
        </p:nvSpPr>
        <p:spPr>
          <a:xfrm>
            <a:off x="685800" y="5391150"/>
            <a:ext cx="6657975" cy="323850"/>
          </a:xfrm>
          <a:prstGeom prst="rect">
            <a:avLst/>
          </a:prstGeom>
          <a:noFill/>
          <a:ln w="0">
            <a:noFill/>
          </a:ln>
        </p:spPr>
        <p:txBody>
          <a:bodyPr wrap="square" lIns="0" tIns="0" rIns="0" bIns="0">
            <a:noAutofit/>
          </a:bodyPr>
          <a:lstStyle/>
          <a:p>
            <a:pPr>
              <a:buNone/>
              <a:defRPr sz="1575" b="0">
                <a:solidFill>
                  <a:srgbClr val="171717"/>
                </a:solidFill>
                <a:latin typeface="Hiragino Sans GB" panose="020B0300000000000000" charset="-122"/>
                <a:ea typeface="Hiragino Sans GB" panose="020B0300000000000000" charset="-122"/>
                <a:cs typeface="Hiragino Sans GB" panose="020B0300000000000000" charset="-122"/>
              </a:defRPr>
            </a:pPr>
            <a:r>
              <a:rPr sz="1575" b="0">
                <a:solidFill>
                  <a:srgbClr val="171717"/>
                </a:solidFill>
                <a:latin typeface="Hiragino Sans GB" panose="020B0300000000000000" charset="-122"/>
                <a:ea typeface="Hiragino Sans GB" panose="020B0300000000000000" charset="-122"/>
                <a:cs typeface="Hiragino Sans GB" panose="020B0300000000000000" charset="-122"/>
              </a:rPr>
              <a:t>面向深圳大学城学生，不限专业</a:t>
            </a:r>
            <a:endParaRPr sz="157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7" name="经许可的校园渠道"/>
          <p:cNvSpPr>
            <a:spLocks noGrp="1"/>
          </p:cNvSpPr>
          <p:nvPr/>
        </p:nvSpPr>
        <p:spPr>
          <a:xfrm>
            <a:off x="8353425" y="2028825"/>
            <a:ext cx="3152775" cy="438150"/>
          </a:xfrm>
          <a:prstGeom prst="rect">
            <a:avLst/>
          </a:prstGeom>
          <a:noFill/>
          <a:ln w="0">
            <a:noFill/>
          </a:ln>
        </p:spPr>
        <p:txBody>
          <a:bodyPr wrap="square" lIns="0" tIns="0" rIns="0" bIns="0">
            <a:noAutofit/>
          </a:bodyPr>
          <a:lstStyle/>
          <a:p>
            <a:pPr>
              <a:buNone/>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你的题目，自己决定</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8" name="社团群、项目群、校园账号&#10;按真实任务招募参与者"/>
          <p:cNvSpPr>
            <a:spLocks noGrp="1"/>
          </p:cNvSpPr>
          <p:nvPr/>
        </p:nvSpPr>
        <p:spPr>
          <a:xfrm>
            <a:off x="8353425" y="2590800"/>
            <a:ext cx="3152775" cy="981075"/>
          </a:xfrm>
          <a:prstGeom prst="rect">
            <a:avLst/>
          </a:prstGeom>
          <a:noFill/>
          <a:ln w="0">
            <a:noFill/>
          </a:ln>
        </p:spPr>
        <p:txBody>
          <a:bodyPr wrap="square" lIns="0" tIns="0" rIns="0" bIns="0">
            <a:noAutofit/>
          </a:bodyPr>
          <a:lstStyle/>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生活趣事、个人兴趣、</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课堂汇报或团队项目，</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选一件你想分享的事。</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9" name="每个案例讲清楚"/>
          <p:cNvSpPr>
            <a:spLocks noGrp="1"/>
          </p:cNvSpPr>
          <p:nvPr/>
        </p:nvSpPr>
        <p:spPr>
          <a:xfrm>
            <a:off x="8353425" y="3790950"/>
            <a:ext cx="3152775" cy="438150"/>
          </a:xfrm>
          <a:prstGeom prst="rect">
            <a:avLst/>
          </a:prstGeom>
          <a:noFill/>
          <a:ln w="0">
            <a:noFill/>
          </a:ln>
        </p:spPr>
        <p:txBody>
          <a:bodyPr wrap="square" lIns="0" tIns="0" rIns="0" bIns="0">
            <a:noAutofit/>
          </a:bodyPr>
          <a:lstStyle/>
          <a:p>
            <a:pPr>
              <a:buNone/>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用 Cheso 做成作品</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0" name="题目为什么值得做&#10;作品经历了哪些修改&#10;目标观众怎样评价"/>
          <p:cNvSpPr>
            <a:spLocks noGrp="1"/>
          </p:cNvSpPr>
          <p:nvPr/>
        </p:nvSpPr>
        <p:spPr>
          <a:xfrm>
            <a:off x="8353425" y="4352925"/>
            <a:ext cx="3152775" cy="1209675"/>
          </a:xfrm>
          <a:prstGeom prst="rect">
            <a:avLst/>
          </a:prstGeom>
          <a:noFill/>
          <a:ln w="0">
            <a:noFill/>
          </a:ln>
        </p:spPr>
        <p:txBody>
          <a:bodyPr wrap="square" lIns="0" tIns="0" rIns="0" bIns="0">
            <a:noAutofit/>
          </a:bodyPr>
          <a:lstStyle/>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入选后领取试用权限，</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用 Cheso 制作 PPT 或海报。</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作品有点评，优秀作品有奖励。</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1" name="Background band"/>
          <p:cNvSpPr>
            <a:spLocks noGrp="1"/>
          </p:cNvSpPr>
          <p:nvPr/>
        </p:nvSpPr>
        <p:spPr>
          <a:xfrm>
            <a:off x="685800" y="5934075"/>
            <a:ext cx="10820400" cy="9525"/>
          </a:xfrm>
          <a:prstGeom prst="rect">
            <a:avLst/>
          </a:prstGeom>
          <a:solidFill>
            <a:srgbClr val="171717"/>
          </a:solidFill>
          <a:ln w="0">
            <a:noFill/>
          </a:ln>
        </p:spPr>
      </p:sp>
      <p:sp>
        <p:nvSpPr>
          <p:cNvPr id="12" name="首轮目标为 3 个完整授权案例，附经确认的体验入口。"/>
          <p:cNvSpPr>
            <a:spLocks noGrp="1"/>
          </p:cNvSpPr>
          <p:nvPr/>
        </p:nvSpPr>
        <p:spPr>
          <a:xfrm>
            <a:off x="685800" y="6124575"/>
            <a:ext cx="10820400" cy="400050"/>
          </a:xfrm>
          <a:prstGeom prst="rect">
            <a:avLst/>
          </a:prstGeom>
          <a:noFill/>
          <a:ln w="0">
            <a:noFill/>
          </a:ln>
        </p:spPr>
        <p:txBody>
          <a:bodyPr wrap="square" lIns="0" tIns="0" rIns="0" bIns="0">
            <a:noAutofit/>
          </a:bodyPr>
          <a:lstStyle/>
          <a:p>
            <a:pPr>
              <a:buNone/>
              <a:defRPr sz="1725" b="1">
                <a:solidFill>
                  <a:srgbClr val="171717"/>
                </a:solidFill>
                <a:latin typeface="Hiragino Sans GB" panose="020B0300000000000000" charset="-122"/>
                <a:ea typeface="Hiragino Sans GB" panose="020B0300000000000000" charset="-122"/>
                <a:cs typeface="Hiragino Sans GB" panose="020B0300000000000000" charset="-122"/>
              </a:defRPr>
            </a:pPr>
            <a:r>
              <a:rPr sz="1725" b="1">
                <a:solidFill>
                  <a:srgbClr val="171717"/>
                </a:solidFill>
                <a:latin typeface="Hiragino Sans GB" panose="020B0300000000000000" charset="-122"/>
                <a:ea typeface="Hiragino Sans GB" panose="020B0300000000000000" charset="-122"/>
                <a:cs typeface="Hiragino Sans GB" panose="020B0300000000000000" charset="-122"/>
              </a:rPr>
              <a:t>报名提交选题，入选后领取试用权限。时间、报名入口和奖项以正式公告为准。</a:t>
            </a:r>
            <a:endParaRPr sz="17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4"/>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05</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题目自由，需求真实"/>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这些事情，都能成为参赛题目</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生活中的小发现，值得认真表达。严肃的课题，也欢迎参加。"/>
          <p:cNvSpPr>
            <a:spLocks noGrp="1"/>
          </p:cNvSpPr>
          <p:nvPr/>
        </p:nvSpPr>
        <p:spPr>
          <a:xfrm>
            <a:off x="685800" y="1762125"/>
            <a:ext cx="10820400" cy="457200"/>
          </a:xfrm>
          <a:prstGeom prst="rect">
            <a:avLst/>
          </a:prstGeom>
          <a:noFill/>
          <a:ln w="0">
            <a:noFill/>
          </a:ln>
        </p:spPr>
        <p:txBody>
          <a:bodyPr wrap="square" lIns="0" tIns="0" rIns="0" bIns="0">
            <a:noAutofit/>
          </a:bodyPr>
          <a:lstStyle/>
          <a:p>
            <a:pPr>
              <a:buNone/>
              <a:defRPr sz="2025" b="0">
                <a:solidFill>
                  <a:srgbClr val="171717"/>
                </a:solidFill>
                <a:latin typeface="Hiragino Sans GB" panose="020B0300000000000000" charset="-122"/>
                <a:ea typeface="Hiragino Sans GB" panose="020B0300000000000000" charset="-122"/>
                <a:cs typeface="Hiragino Sans GB" panose="020B0300000000000000" charset="-122"/>
              </a:defRPr>
            </a:pPr>
            <a:r>
              <a:rPr sz="2025" b="0">
                <a:solidFill>
                  <a:srgbClr val="171717"/>
                </a:solidFill>
                <a:latin typeface="Hiragino Sans GB" panose="020B0300000000000000" charset="-122"/>
                <a:ea typeface="Hiragino Sans GB" panose="020B0300000000000000" charset="-122"/>
                <a:cs typeface="Hiragino Sans GB" panose="020B0300000000000000" charset="-122"/>
              </a:rPr>
              <a:t>午饭、兴趣、课程、社团和项目都欢迎。选一件你真想讲给别人听的事。</a:t>
            </a:r>
            <a:endParaRPr sz="2025" b="0">
              <a:solidFill>
                <a:srgbClr val="171717"/>
              </a:solidFill>
              <a:latin typeface="Hiragino Sans GB" panose="020B0300000000000000" charset="-122"/>
              <a:ea typeface="Hiragino Sans GB" panose="020B0300000000000000" charset="-122"/>
              <a:cs typeface="Hiragino Sans GB" panose="020B0300000000000000" charset="-122"/>
            </a:endParaRPr>
          </a:p>
        </p:txBody>
      </p:sp>
      <p:graphicFrame>
        <p:nvGraphicFramePr>
          <p:cNvPr id="13" name="表格 12"/>
          <p:cNvGraphicFramePr/>
          <p:nvPr/>
        </p:nvGraphicFramePr>
        <p:xfrm>
          <a:off x="685800" y="2505075"/>
          <a:ext cx="10820400" cy="3171825"/>
        </p:xfrm>
        <a:graphic>
          <a:graphicData uri="http://schemas.openxmlformats.org/drawingml/2006/table">
            <a:tbl>
              <a:tblPr/>
              <a:tblGrid>
                <a:gridCol w="2495550"/>
                <a:gridCol w="8324850"/>
              </a:tblGrid>
              <a:tr h="457200">
                <a:tc>
                  <a:txBody>
                    <a:bodyPr>
                      <a:spAutoFit/>
                    </a:bodyPr>
                    <a:lstStyle/>
                    <a:p>
                      <a:pPr algn="l">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你想讲的事情</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l">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可以做成什么作品</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r>
              <a:tr h="542925">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今天吃了什么</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用午饭照片和自己的选择理由，做一份有趣的午餐报告</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42925">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我的周末路线</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把去过的地方和亲身感受，整理成一份周末出游提案</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42925">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课堂汇报</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把想讲的知识和参考资料，做成同学更容易看懂的 PPT</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42925">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社团招新</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把社团故事和活动照片，做成有吸引力的介绍或海报</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42925">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团队项目</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把团队的想法、工作和成果，做成让别人理解的展示</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bl>
          </a:graphicData>
        </a:graphic>
      </p:graphicFrame>
      <p:sp>
        <p:nvSpPr>
          <p:cNvPr id="6" name="以上为选题示例。不限设计专业，不按题目大小评分，不强制制作品牌广"/>
          <p:cNvSpPr>
            <a:spLocks noGrp="1"/>
          </p:cNvSpPr>
          <p:nvPr/>
        </p:nvSpPr>
        <p:spPr>
          <a:xfrm>
            <a:off x="685800" y="6200775"/>
            <a:ext cx="10820400" cy="419100"/>
          </a:xfrm>
          <a:prstGeom prst="rect">
            <a:avLst/>
          </a:prstGeom>
          <a:noFill/>
          <a:ln w="0">
            <a:noFill/>
          </a:ln>
        </p:spPr>
        <p:txBody>
          <a:bodyPr wrap="square" lIns="0" tIns="0" rIns="0" bIns="0">
            <a:noAutofit/>
          </a:bodyPr>
          <a:lstStyle/>
          <a:p>
            <a:pPr>
              <a:buNone/>
              <a:defRPr sz="1350" b="0">
                <a:solidFill>
                  <a:srgbClr val="171717"/>
                </a:solidFill>
                <a:latin typeface="Hiragino Sans GB" panose="020B0300000000000000" charset="-122"/>
                <a:ea typeface="Hiragino Sans GB" panose="020B0300000000000000" charset="-122"/>
                <a:cs typeface="Hiragino Sans GB" panose="020B0300000000000000" charset="-122"/>
              </a:defRPr>
            </a:pPr>
            <a:r>
              <a:rPr sz="1350" b="0">
                <a:solidFill>
                  <a:srgbClr val="171717"/>
                </a:solidFill>
                <a:latin typeface="Hiragino Sans GB" panose="020B0300000000000000" charset="-122"/>
                <a:ea typeface="Hiragino Sans GB" panose="020B0300000000000000" charset="-122"/>
                <a:cs typeface="Hiragino Sans GB" panose="020B0300000000000000" charset="-122"/>
              </a:rPr>
              <a:t>以上为选题示例，不设指定题目。不要求已有作业或截止日期，也不要求为 Cheso 制作广告。</a:t>
            </a:r>
            <a:endParaRPr sz="13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p:sp>
        <p:nvSpPr>
          <p:cNvPr id="22"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FFFFFF"/>
                </a:solidFill>
                <a:latin typeface="Helvetica Neue" panose="02000503000000020004"/>
                <a:ea typeface="Helvetica Neue" panose="02000503000000020004"/>
                <a:cs typeface="Helvetica Neue" panose="02000503000000020004"/>
              </a:defRPr>
            </a:pPr>
            <a:r>
              <a:rPr sz="1275" b="1">
                <a:solidFill>
                  <a:srgbClr val="FFFFFF"/>
                </a:solidFill>
                <a:latin typeface="Helvetica Neue" panose="02000503000000020004"/>
                <a:ea typeface="Helvetica Neue" panose="02000503000000020004"/>
                <a:cs typeface="Helvetica Neue" panose="02000503000000020004"/>
              </a:rPr>
              <a:t>CHESO CAMPUS LAB</a:t>
            </a:r>
            <a:endParaRPr sz="1275" b="1">
              <a:solidFill>
                <a:srgbClr val="FFFFFF"/>
              </a:solidFill>
              <a:latin typeface="Helvetica Neue" panose="02000503000000020004"/>
              <a:ea typeface="Helvetica Neue" panose="02000503000000020004"/>
              <a:cs typeface="Helvetica Neue" panose="02000503000000020004"/>
            </a:endParaRPr>
          </a:p>
        </p:txBody>
      </p:sp>
      <p:sp>
        <p:nvSpPr>
          <p:cNvPr id="2" name="05"/>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FFFFFF"/>
                </a:solidFill>
                <a:latin typeface="Helvetica Neue" panose="02000503000000020004"/>
                <a:ea typeface="Helvetica Neue" panose="02000503000000020004"/>
                <a:cs typeface="Helvetica Neue" panose="02000503000000020004"/>
              </a:defRPr>
            </a:pPr>
            <a:r>
              <a:rPr sz="1575" b="0">
                <a:solidFill>
                  <a:srgbClr val="FFFFFF"/>
                </a:solidFill>
                <a:latin typeface="Helvetica Neue" panose="02000503000000020004"/>
                <a:ea typeface="Helvetica Neue" panose="02000503000000020004"/>
                <a:cs typeface="Helvetica Neue" panose="02000503000000020004"/>
              </a:rPr>
              <a:t>06</a:t>
            </a:r>
            <a:endParaRPr sz="1575" b="0">
              <a:solidFill>
                <a:srgbClr val="FFFFFF"/>
              </a:solidFill>
              <a:latin typeface="Helvetica Neue" panose="02000503000000020004"/>
              <a:ea typeface="Helvetica Neue" panose="02000503000000020004"/>
              <a:cs typeface="Helvetica Neue" panose="02000503000000020004"/>
            </a:endParaRPr>
          </a:p>
        </p:txBody>
      </p:sp>
      <p:sp>
        <p:nvSpPr>
          <p:cNvPr id="3" name="参与方式"/>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FFFFFF"/>
                </a:solidFill>
                <a:latin typeface="Hiragino Sans GB" panose="020B0300000000000000" charset="-122"/>
                <a:ea typeface="Hiragino Sans GB" panose="020B0300000000000000" charset="-122"/>
                <a:cs typeface="Hiragino Sans GB" panose="020B0300000000000000" charset="-122"/>
              </a:defRPr>
            </a:pPr>
            <a:r>
              <a:rPr sz="3900" b="1">
                <a:solidFill>
                  <a:srgbClr val="FFFFFF"/>
                </a:solidFill>
                <a:latin typeface="Hiragino Sans GB" panose="020B0300000000000000" charset="-122"/>
                <a:ea typeface="Hiragino Sans GB" panose="020B0300000000000000" charset="-122"/>
                <a:cs typeface="Hiragino Sans GB" panose="020B0300000000000000" charset="-122"/>
              </a:rPr>
              <a:t>同学怎样参加这场比赛</a:t>
            </a:r>
            <a:endParaRPr sz="3900"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4" name="20"/>
          <p:cNvSpPr>
            <a:spLocks noGrp="1"/>
          </p:cNvSpPr>
          <p:nvPr/>
        </p:nvSpPr>
        <p:spPr>
          <a:xfrm>
            <a:off x="571500" y="1828800"/>
            <a:ext cx="4381500" cy="2095500"/>
          </a:xfrm>
          <a:prstGeom prst="rect">
            <a:avLst/>
          </a:prstGeom>
          <a:noFill/>
          <a:ln w="0">
            <a:noFill/>
          </a:ln>
        </p:spPr>
        <p:txBody>
          <a:bodyPr wrap="square" lIns="0" tIns="0" rIns="0" bIns="0">
            <a:noAutofit/>
          </a:bodyPr>
          <a:lstStyle/>
          <a:p>
            <a:pPr>
              <a:buNone/>
              <a:defRPr sz="13875" b="1">
                <a:solidFill>
                  <a:srgbClr val="FFDA2A"/>
                </a:solidFill>
                <a:latin typeface="Helvetica Neue" panose="02000503000000020004"/>
                <a:ea typeface="Helvetica Neue" panose="02000503000000020004"/>
                <a:cs typeface="Helvetica Neue" panose="02000503000000020004"/>
              </a:defRPr>
            </a:pPr>
            <a:r>
              <a:rPr sz="13875" b="1">
                <a:solidFill>
                  <a:srgbClr val="FFDA2A"/>
                </a:solidFill>
                <a:latin typeface="Helvetica Neue" panose="02000503000000020004"/>
                <a:ea typeface="Helvetica Neue" panose="02000503000000020004"/>
                <a:cs typeface="Helvetica Neue" panose="02000503000000020004"/>
              </a:rPr>
              <a:t>20</a:t>
            </a:r>
            <a:endParaRPr sz="13875" b="1">
              <a:solidFill>
                <a:srgbClr val="FFDA2A"/>
              </a:solidFill>
              <a:latin typeface="Helvetica Neue" panose="02000503000000020004"/>
              <a:ea typeface="Helvetica Neue" panose="02000503000000020004"/>
              <a:cs typeface="Helvetica Neue" panose="02000503000000020004"/>
            </a:endParaRPr>
          </a:p>
        </p:txBody>
      </p:sp>
      <p:sp>
        <p:nvSpPr>
          <p:cNvPr id="5" name="组试点建议"/>
          <p:cNvSpPr>
            <a:spLocks noGrp="1"/>
          </p:cNvSpPr>
          <p:nvPr/>
        </p:nvSpPr>
        <p:spPr>
          <a:xfrm>
            <a:off x="685800" y="3905250"/>
            <a:ext cx="3619500" cy="523875"/>
          </a:xfrm>
          <a:prstGeom prst="rect">
            <a:avLst/>
          </a:prstGeom>
          <a:noFill/>
          <a:ln w="0">
            <a:noFill/>
          </a:ln>
        </p:spPr>
        <p:txBody>
          <a:bodyPr wrap="square" lIns="0" tIns="0" rIns="0" bIns="0">
            <a:noAutofit/>
          </a:bodyPr>
          <a:lstStyle/>
          <a:p>
            <a:pPr>
              <a:buNone/>
              <a:defRPr sz="2700" b="1">
                <a:solidFill>
                  <a:srgbClr val="FFFFFF"/>
                </a:solidFill>
                <a:latin typeface="Hiragino Sans GB" panose="020B0300000000000000" charset="-122"/>
                <a:ea typeface="Hiragino Sans GB" panose="020B0300000000000000" charset="-122"/>
                <a:cs typeface="Hiragino Sans GB" panose="020B0300000000000000" charset="-122"/>
              </a:defRPr>
            </a:pPr>
            <a:r>
              <a:rPr sz="2700" b="1">
                <a:solidFill>
                  <a:srgbClr val="FFFFFF"/>
                </a:solidFill>
                <a:latin typeface="Hiragino Sans GB" panose="020B0300000000000000" charset="-122"/>
                <a:ea typeface="Hiragino Sans GB" panose="020B0300000000000000" charset="-122"/>
                <a:cs typeface="Hiragino Sans GB" panose="020B0300000000000000" charset="-122"/>
              </a:rPr>
              <a:t>组，首轮招募建议</a:t>
            </a:r>
            <a:endParaRPr sz="2700"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6" name="每组 1 至 3 人&#10;指定一名主要操作者&#10;账号由本人使用"/>
          <p:cNvSpPr>
            <a:spLocks noGrp="1"/>
          </p:cNvSpPr>
          <p:nvPr/>
        </p:nvSpPr>
        <p:spPr>
          <a:xfrm>
            <a:off x="685800" y="4762500"/>
            <a:ext cx="3743325" cy="1171575"/>
          </a:xfrm>
          <a:prstGeom prst="rect">
            <a:avLst/>
          </a:prstGeom>
          <a:noFill/>
          <a:ln w="0">
            <a:noFill/>
          </a:ln>
        </p:spPr>
        <p:txBody>
          <a:bodyPr wrap="square" lIns="0" tIns="0" rIns="0" bIns="0">
            <a:noAutofit/>
          </a:bodyPr>
          <a:lstStyle/>
          <a:p>
            <a:pPr>
              <a:buNone/>
              <a:defRPr sz="2025" b="0">
                <a:solidFill>
                  <a:srgbClr val="FFFFFF"/>
                </a:solidFill>
                <a:latin typeface="Hiragino Sans GB" panose="020B0300000000000000" charset="-122"/>
                <a:ea typeface="Hiragino Sans GB" panose="020B0300000000000000" charset="-122"/>
                <a:cs typeface="Hiragino Sans GB" panose="020B0300000000000000" charset="-122"/>
              </a:defRPr>
            </a:pPr>
            <a:r>
              <a:rPr sz="2025" b="0">
                <a:solidFill>
                  <a:srgbClr val="FFFFFF"/>
                </a:solidFill>
                <a:latin typeface="Hiragino Sans GB" panose="020B0300000000000000" charset="-122"/>
                <a:ea typeface="Hiragino Sans GB" panose="020B0300000000000000" charset="-122"/>
                <a:cs typeface="Hiragino Sans GB" panose="020B0300000000000000" charset="-122"/>
              </a:rPr>
              <a:t>个人或 2 至 3 人组队</a:t>
            </a:r>
            <a:endParaRPr sz="2025" b="0">
              <a:solidFill>
                <a:srgbClr val="FFFFFF"/>
              </a:solidFill>
              <a:latin typeface="Hiragino Sans GB" panose="020B0300000000000000" charset="-122"/>
              <a:ea typeface="Hiragino Sans GB" panose="020B0300000000000000" charset="-122"/>
              <a:cs typeface="Hiragino Sans GB" panose="020B0300000000000000" charset="-122"/>
            </a:endParaRPr>
          </a:p>
          <a:p>
            <a:pPr>
              <a:buNone/>
              <a:defRPr sz="2025" b="0">
                <a:solidFill>
                  <a:srgbClr val="FFFFFF"/>
                </a:solidFill>
                <a:latin typeface="Hiragino Sans GB" panose="020B0300000000000000" charset="-122"/>
                <a:ea typeface="Hiragino Sans GB" panose="020B0300000000000000" charset="-122"/>
                <a:cs typeface="Hiragino Sans GB" panose="020B0300000000000000" charset="-122"/>
              </a:defRPr>
            </a:pPr>
            <a:r>
              <a:rPr sz="2025" b="0">
                <a:solidFill>
                  <a:srgbClr val="FFFFFF"/>
                </a:solidFill>
                <a:latin typeface="Hiragino Sans GB" panose="020B0300000000000000" charset="-122"/>
                <a:ea typeface="Hiragino Sans GB" panose="020B0300000000000000" charset="-122"/>
                <a:cs typeface="Hiragino Sans GB" panose="020B0300000000000000" charset="-122"/>
              </a:rPr>
              <a:t>不限专业，自选题目</a:t>
            </a:r>
            <a:endParaRPr sz="2025" b="0">
              <a:solidFill>
                <a:srgbClr val="FFFFFF"/>
              </a:solidFill>
              <a:latin typeface="Hiragino Sans GB" panose="020B0300000000000000" charset="-122"/>
              <a:ea typeface="Hiragino Sans GB" panose="020B0300000000000000" charset="-122"/>
              <a:cs typeface="Hiragino Sans GB" panose="020B0300000000000000" charset="-122"/>
            </a:endParaRPr>
          </a:p>
          <a:p>
            <a:pPr>
              <a:buNone/>
              <a:defRPr sz="2025" b="0">
                <a:solidFill>
                  <a:srgbClr val="FFFFFF"/>
                </a:solidFill>
                <a:latin typeface="Hiragino Sans GB" panose="020B0300000000000000" charset="-122"/>
                <a:ea typeface="Hiragino Sans GB" panose="020B0300000000000000" charset="-122"/>
                <a:cs typeface="Hiragino Sans GB" panose="020B0300000000000000" charset="-122"/>
              </a:defRPr>
            </a:pPr>
            <a:r>
              <a:rPr sz="2025" b="0">
                <a:solidFill>
                  <a:srgbClr val="FFFFFF"/>
                </a:solidFill>
                <a:latin typeface="Hiragino Sans GB" panose="020B0300000000000000" charset="-122"/>
                <a:ea typeface="Hiragino Sans GB" panose="020B0300000000000000" charset="-122"/>
                <a:cs typeface="Hiragino Sans GB" panose="020B0300000000000000" charset="-122"/>
              </a:rPr>
              <a:t>操作者使用本人账号</a:t>
            </a:r>
            <a:endParaRPr sz="2025" b="0">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7" name="01"/>
          <p:cNvSpPr>
            <a:spLocks noGrp="1"/>
          </p:cNvSpPr>
          <p:nvPr/>
        </p:nvSpPr>
        <p:spPr>
          <a:xfrm>
            <a:off x="5143500" y="1943100"/>
            <a:ext cx="581025" cy="400050"/>
          </a:xfrm>
          <a:prstGeom prst="rect">
            <a:avLst/>
          </a:prstGeom>
          <a:noFill/>
          <a:ln w="0">
            <a:noFill/>
          </a:ln>
        </p:spPr>
        <p:txBody>
          <a:bodyPr wrap="square" lIns="0" tIns="0" rIns="0" bIns="0">
            <a:noAutofit/>
          </a:bodyPr>
          <a:lstStyle/>
          <a:p>
            <a:pPr>
              <a:buNone/>
              <a:defRPr sz="2250" b="1">
                <a:solidFill>
                  <a:srgbClr val="FFDA2A"/>
                </a:solidFill>
                <a:latin typeface="Helvetica Neue" panose="02000503000000020004"/>
                <a:ea typeface="Helvetica Neue" panose="02000503000000020004"/>
                <a:cs typeface="Helvetica Neue" panose="02000503000000020004"/>
              </a:defRPr>
            </a:pPr>
            <a:r>
              <a:rPr sz="2250" b="1">
                <a:solidFill>
                  <a:srgbClr val="FFDA2A"/>
                </a:solidFill>
                <a:latin typeface="Helvetica Neue" panose="02000503000000020004"/>
                <a:ea typeface="Helvetica Neue" panose="02000503000000020004"/>
                <a:cs typeface="Helvetica Neue" panose="02000503000000020004"/>
              </a:rPr>
              <a:t>01</a:t>
            </a:r>
            <a:endParaRPr sz="2250" b="1">
              <a:solidFill>
                <a:srgbClr val="FFDA2A"/>
              </a:solidFill>
              <a:latin typeface="Helvetica Neue" panose="02000503000000020004"/>
              <a:ea typeface="Helvetica Neue" panose="02000503000000020004"/>
              <a:cs typeface="Helvetica Neue" panose="02000503000000020004"/>
            </a:endParaRPr>
          </a:p>
        </p:txBody>
      </p:sp>
      <p:sp>
        <p:nvSpPr>
          <p:cNvPr id="8" name="说明任务和观众"/>
          <p:cNvSpPr>
            <a:spLocks noGrp="1"/>
          </p:cNvSpPr>
          <p:nvPr/>
        </p:nvSpPr>
        <p:spPr>
          <a:xfrm>
            <a:off x="5915025" y="1924050"/>
            <a:ext cx="5572125" cy="342900"/>
          </a:xfrm>
          <a:prstGeom prst="rect">
            <a:avLst/>
          </a:prstGeom>
          <a:noFill/>
          <a:ln w="0">
            <a:noFill/>
          </a:ln>
        </p:spPr>
        <p:txBody>
          <a:bodyPr wrap="square" lIns="0" tIns="0" rIns="0" bIns="0">
            <a:noAutofit/>
          </a:bodyPr>
          <a:lstStyle/>
          <a:p>
            <a:pPr>
              <a:buNone/>
              <a:defRPr sz="2025" b="1">
                <a:solidFill>
                  <a:srgbClr val="FFFFFF"/>
                </a:solidFill>
                <a:latin typeface="Hiragino Sans GB" panose="020B0300000000000000" charset="-122"/>
                <a:ea typeface="Hiragino Sans GB" panose="020B0300000000000000" charset="-122"/>
                <a:cs typeface="Hiragino Sans GB" panose="020B0300000000000000" charset="-122"/>
              </a:defRPr>
            </a:pPr>
            <a:r>
              <a:rPr sz="2025" b="1">
                <a:solidFill>
                  <a:srgbClr val="FFFFFF"/>
                </a:solidFill>
                <a:latin typeface="Hiragino Sans GB" panose="020B0300000000000000" charset="-122"/>
                <a:ea typeface="Hiragino Sans GB" panose="020B0300000000000000" charset="-122"/>
                <a:cs typeface="Hiragino Sans GB" panose="020B0300000000000000" charset="-122"/>
              </a:rPr>
              <a:t>报名，说明想做什么</a:t>
            </a:r>
            <a:endParaRPr sz="2025"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9" name="确认需要完成什么、给谁看"/>
          <p:cNvSpPr>
            <a:spLocks noGrp="1"/>
          </p:cNvSpPr>
          <p:nvPr/>
        </p:nvSpPr>
        <p:spPr>
          <a:xfrm>
            <a:off x="5915025" y="2305050"/>
            <a:ext cx="5572125" cy="504825"/>
          </a:xfrm>
          <a:prstGeom prst="rect">
            <a:avLst/>
          </a:prstGeom>
          <a:noFill/>
          <a:ln w="0">
            <a:noFill/>
          </a:ln>
        </p:spPr>
        <p:txBody>
          <a:bodyPr wrap="square" lIns="0" tIns="0" rIns="0" bIns="0">
            <a:noAutofit/>
          </a:bodyPr>
          <a:lstStyle/>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提交选题、作品形式和联系方式。</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校园运营回复入选或候补结果。</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p:txBody>
      </p:sp>
      <p:sp>
        <p:nvSpPr>
          <p:cNvPr id="10" name="Background band"/>
          <p:cNvSpPr>
            <a:spLocks noGrp="1"/>
          </p:cNvSpPr>
          <p:nvPr/>
        </p:nvSpPr>
        <p:spPr>
          <a:xfrm>
            <a:off x="5143500" y="2838450"/>
            <a:ext cx="6362700" cy="9525"/>
          </a:xfrm>
          <a:prstGeom prst="rect">
            <a:avLst/>
          </a:prstGeom>
          <a:solidFill>
            <a:srgbClr val="454545"/>
          </a:solidFill>
          <a:ln w="0">
            <a:noFill/>
          </a:ln>
        </p:spPr>
      </p:sp>
      <p:sp>
        <p:nvSpPr>
          <p:cNvPr id="11" name="02"/>
          <p:cNvSpPr>
            <a:spLocks noGrp="1"/>
          </p:cNvSpPr>
          <p:nvPr/>
        </p:nvSpPr>
        <p:spPr>
          <a:xfrm>
            <a:off x="5143500" y="2933700"/>
            <a:ext cx="581025" cy="400050"/>
          </a:xfrm>
          <a:prstGeom prst="rect">
            <a:avLst/>
          </a:prstGeom>
          <a:noFill/>
          <a:ln w="0">
            <a:noFill/>
          </a:ln>
        </p:spPr>
        <p:txBody>
          <a:bodyPr wrap="square" lIns="0" tIns="0" rIns="0" bIns="0">
            <a:noAutofit/>
          </a:bodyPr>
          <a:lstStyle/>
          <a:p>
            <a:pPr>
              <a:buNone/>
              <a:defRPr sz="2250" b="1">
                <a:solidFill>
                  <a:srgbClr val="FFDA2A"/>
                </a:solidFill>
                <a:latin typeface="Helvetica Neue" panose="02000503000000020004"/>
                <a:ea typeface="Helvetica Neue" panose="02000503000000020004"/>
                <a:cs typeface="Helvetica Neue" panose="02000503000000020004"/>
              </a:defRPr>
            </a:pPr>
            <a:r>
              <a:rPr sz="2250" b="1">
                <a:solidFill>
                  <a:srgbClr val="FFDA2A"/>
                </a:solidFill>
                <a:latin typeface="Helvetica Neue" panose="02000503000000020004"/>
                <a:ea typeface="Helvetica Neue" panose="02000503000000020004"/>
                <a:cs typeface="Helvetica Neue" panose="02000503000000020004"/>
              </a:rPr>
              <a:t>02</a:t>
            </a:r>
            <a:endParaRPr sz="2250" b="1">
              <a:solidFill>
                <a:srgbClr val="FFDA2A"/>
              </a:solidFill>
              <a:latin typeface="Helvetica Neue" panose="02000503000000020004"/>
              <a:ea typeface="Helvetica Neue" panose="02000503000000020004"/>
              <a:cs typeface="Helvetica Neue" panose="02000503000000020004"/>
            </a:endParaRPr>
          </a:p>
        </p:txBody>
      </p:sp>
      <p:sp>
        <p:nvSpPr>
          <p:cNvPr id="12" name="整理资料并使用 Cheso"/>
          <p:cNvSpPr>
            <a:spLocks noGrp="1"/>
          </p:cNvSpPr>
          <p:nvPr/>
        </p:nvSpPr>
        <p:spPr>
          <a:xfrm>
            <a:off x="5915025" y="2914650"/>
            <a:ext cx="5572125" cy="342900"/>
          </a:xfrm>
          <a:prstGeom prst="rect">
            <a:avLst/>
          </a:prstGeom>
          <a:noFill/>
          <a:ln w="0">
            <a:noFill/>
          </a:ln>
        </p:spPr>
        <p:txBody>
          <a:bodyPr wrap="square" lIns="0" tIns="0" rIns="0" bIns="0">
            <a:noAutofit/>
          </a:bodyPr>
          <a:lstStyle/>
          <a:p>
            <a:pPr>
              <a:buNone/>
              <a:defRPr sz="2025" b="1">
                <a:solidFill>
                  <a:srgbClr val="FFFFFF"/>
                </a:solidFill>
                <a:latin typeface="Hiragino Sans GB" panose="020B0300000000000000" charset="-122"/>
                <a:ea typeface="Hiragino Sans GB" panose="020B0300000000000000" charset="-122"/>
                <a:cs typeface="Hiragino Sans GB" panose="020B0300000000000000" charset="-122"/>
              </a:defRPr>
            </a:pPr>
            <a:r>
              <a:rPr sz="2025" b="1">
                <a:solidFill>
                  <a:srgbClr val="FFFFFF"/>
                </a:solidFill>
                <a:latin typeface="Hiragino Sans GB" panose="020B0300000000000000" charset="-122"/>
                <a:ea typeface="Hiragino Sans GB" panose="020B0300000000000000" charset="-122"/>
                <a:cs typeface="Hiragino Sans GB" panose="020B0300000000000000" charset="-122"/>
              </a:rPr>
              <a:t>领取权限，确认能够使用</a:t>
            </a:r>
            <a:endParaRPr sz="2025"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13" name="保留关键操作和人工调整"/>
          <p:cNvSpPr>
            <a:spLocks noGrp="1"/>
          </p:cNvSpPr>
          <p:nvPr/>
        </p:nvSpPr>
        <p:spPr>
          <a:xfrm>
            <a:off x="5915025" y="3295650"/>
            <a:ext cx="5572125" cy="504825"/>
          </a:xfrm>
          <a:prstGeom prst="rect">
            <a:avLst/>
          </a:prstGeom>
          <a:noFill/>
          <a:ln w="0">
            <a:noFill/>
          </a:ln>
        </p:spPr>
        <p:txBody>
          <a:bodyPr wrap="square" lIns="0" tIns="0" rIns="0" bIns="0">
            <a:noAutofit/>
          </a:bodyPr>
          <a:lstStyle/>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产品支持确认账号、额度和期限。</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同时发放使用说明、日期与求助方式。</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p:txBody>
      </p:sp>
      <p:sp>
        <p:nvSpPr>
          <p:cNvPr id="14" name="Background band"/>
          <p:cNvSpPr>
            <a:spLocks noGrp="1"/>
          </p:cNvSpPr>
          <p:nvPr/>
        </p:nvSpPr>
        <p:spPr>
          <a:xfrm>
            <a:off x="5143500" y="3829050"/>
            <a:ext cx="6362700" cy="9525"/>
          </a:xfrm>
          <a:prstGeom prst="rect">
            <a:avLst/>
          </a:prstGeom>
          <a:solidFill>
            <a:srgbClr val="454545"/>
          </a:solidFill>
          <a:ln w="0">
            <a:noFill/>
          </a:ln>
        </p:spPr>
      </p:sp>
      <p:sp>
        <p:nvSpPr>
          <p:cNvPr id="15" name="03"/>
          <p:cNvSpPr>
            <a:spLocks noGrp="1"/>
          </p:cNvSpPr>
          <p:nvPr/>
        </p:nvSpPr>
        <p:spPr>
          <a:xfrm>
            <a:off x="5143500" y="3924300"/>
            <a:ext cx="581025" cy="400050"/>
          </a:xfrm>
          <a:prstGeom prst="rect">
            <a:avLst/>
          </a:prstGeom>
          <a:noFill/>
          <a:ln w="0">
            <a:noFill/>
          </a:ln>
        </p:spPr>
        <p:txBody>
          <a:bodyPr wrap="square" lIns="0" tIns="0" rIns="0" bIns="0">
            <a:noAutofit/>
          </a:bodyPr>
          <a:lstStyle/>
          <a:p>
            <a:pPr>
              <a:buNone/>
              <a:defRPr sz="2250" b="1">
                <a:solidFill>
                  <a:srgbClr val="FFDA2A"/>
                </a:solidFill>
                <a:latin typeface="Helvetica Neue" panose="02000503000000020004"/>
                <a:ea typeface="Helvetica Neue" panose="02000503000000020004"/>
                <a:cs typeface="Helvetica Neue" panose="02000503000000020004"/>
              </a:defRPr>
            </a:pPr>
            <a:r>
              <a:rPr sz="2250" b="1">
                <a:solidFill>
                  <a:srgbClr val="FFDA2A"/>
                </a:solidFill>
                <a:latin typeface="Helvetica Neue" panose="02000503000000020004"/>
                <a:ea typeface="Helvetica Neue" panose="02000503000000020004"/>
                <a:cs typeface="Helvetica Neue" panose="02000503000000020004"/>
              </a:rPr>
              <a:t>03</a:t>
            </a:r>
            <a:endParaRPr sz="2250" b="1">
              <a:solidFill>
                <a:srgbClr val="FFDA2A"/>
              </a:solidFill>
              <a:latin typeface="Helvetica Neue" panose="02000503000000020004"/>
              <a:ea typeface="Helvetica Neue" panose="02000503000000020004"/>
              <a:cs typeface="Helvetica Neue" panose="02000503000000020004"/>
            </a:endParaRPr>
          </a:p>
        </p:txBody>
      </p:sp>
      <p:sp>
        <p:nvSpPr>
          <p:cNvPr id="16" name="提交作品与过程说明"/>
          <p:cNvSpPr>
            <a:spLocks noGrp="1"/>
          </p:cNvSpPr>
          <p:nvPr/>
        </p:nvSpPr>
        <p:spPr>
          <a:xfrm>
            <a:off x="5915025" y="3905250"/>
            <a:ext cx="5572125" cy="342900"/>
          </a:xfrm>
          <a:prstGeom prst="rect">
            <a:avLst/>
          </a:prstGeom>
          <a:noFill/>
          <a:ln w="0">
            <a:noFill/>
          </a:ln>
        </p:spPr>
        <p:txBody>
          <a:bodyPr wrap="square" lIns="0" tIns="0" rIns="0" bIns="0">
            <a:noAutofit/>
          </a:bodyPr>
          <a:lstStyle/>
          <a:p>
            <a:pPr>
              <a:buNone/>
              <a:defRPr sz="2025" b="1">
                <a:solidFill>
                  <a:srgbClr val="FFFFFF"/>
                </a:solidFill>
                <a:latin typeface="Hiragino Sans GB" panose="020B0300000000000000" charset="-122"/>
                <a:ea typeface="Hiragino Sans GB" panose="020B0300000000000000" charset="-122"/>
                <a:cs typeface="Hiragino Sans GB" panose="020B0300000000000000" charset="-122"/>
              </a:defRPr>
            </a:pPr>
            <a:r>
              <a:rPr sz="2025" b="1">
                <a:solidFill>
                  <a:srgbClr val="FFFFFF"/>
                </a:solidFill>
                <a:latin typeface="Hiragino Sans GB" panose="020B0300000000000000" charset="-122"/>
                <a:ea typeface="Hiragino Sans GB" panose="020B0300000000000000" charset="-122"/>
                <a:cs typeface="Hiragino Sans GB" panose="020B0300000000000000" charset="-122"/>
              </a:rPr>
              <a:t>制作作品，遇到问题及时求助</a:t>
            </a:r>
            <a:endParaRPr sz="2025"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17" name="一件 PPT 或海报，加一页过程说明"/>
          <p:cNvSpPr>
            <a:spLocks noGrp="1"/>
          </p:cNvSpPr>
          <p:nvPr/>
        </p:nvSpPr>
        <p:spPr>
          <a:xfrm>
            <a:off x="5915025" y="4286250"/>
            <a:ext cx="5572125" cy="504825"/>
          </a:xfrm>
          <a:prstGeom prst="rect">
            <a:avLst/>
          </a:prstGeom>
          <a:noFill/>
          <a:ln w="0">
            <a:noFill/>
          </a:ln>
        </p:spPr>
        <p:txBody>
          <a:bodyPr wrap="square" lIns="0" tIns="0" rIns="0" bIns="0">
            <a:noAutofit/>
          </a:bodyPr>
          <a:lstStyle/>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整理素材，告诉 Cheso 要讲什么、讲给谁。</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生成初稿后核对内容，修改不清楚的页面。</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p:txBody>
      </p:sp>
      <p:sp>
        <p:nvSpPr>
          <p:cNvPr id="18" name="Background band"/>
          <p:cNvSpPr>
            <a:spLocks noGrp="1"/>
          </p:cNvSpPr>
          <p:nvPr/>
        </p:nvSpPr>
        <p:spPr>
          <a:xfrm>
            <a:off x="5143500" y="4819650"/>
            <a:ext cx="6362700" cy="9525"/>
          </a:xfrm>
          <a:prstGeom prst="rect">
            <a:avLst/>
          </a:prstGeom>
          <a:solidFill>
            <a:srgbClr val="454545"/>
          </a:solidFill>
          <a:ln w="0">
            <a:noFill/>
          </a:ln>
        </p:spPr>
      </p:sp>
      <p:sp>
        <p:nvSpPr>
          <p:cNvPr id="19" name="04"/>
          <p:cNvSpPr>
            <a:spLocks noGrp="1"/>
          </p:cNvSpPr>
          <p:nvPr/>
        </p:nvSpPr>
        <p:spPr>
          <a:xfrm>
            <a:off x="5143500" y="4914900"/>
            <a:ext cx="581025" cy="400050"/>
          </a:xfrm>
          <a:prstGeom prst="rect">
            <a:avLst/>
          </a:prstGeom>
          <a:noFill/>
          <a:ln w="0">
            <a:noFill/>
          </a:ln>
        </p:spPr>
        <p:txBody>
          <a:bodyPr wrap="square" lIns="0" tIns="0" rIns="0" bIns="0">
            <a:noAutofit/>
          </a:bodyPr>
          <a:lstStyle/>
          <a:p>
            <a:pPr>
              <a:buNone/>
              <a:defRPr sz="2250" b="1">
                <a:solidFill>
                  <a:srgbClr val="FFDA2A"/>
                </a:solidFill>
                <a:latin typeface="Helvetica Neue" panose="02000503000000020004"/>
                <a:ea typeface="Helvetica Neue" panose="02000503000000020004"/>
                <a:cs typeface="Helvetica Neue" panose="02000503000000020004"/>
              </a:defRPr>
            </a:pPr>
            <a:r>
              <a:rPr sz="2250" b="1">
                <a:solidFill>
                  <a:srgbClr val="FFDA2A"/>
                </a:solidFill>
                <a:latin typeface="Helvetica Neue" panose="02000503000000020004"/>
                <a:ea typeface="Helvetica Neue" panose="02000503000000020004"/>
                <a:cs typeface="Helvetica Neue" panose="02000503000000020004"/>
              </a:rPr>
              <a:t>04</a:t>
            </a:r>
            <a:endParaRPr sz="2250" b="1">
              <a:solidFill>
                <a:srgbClr val="FFDA2A"/>
              </a:solidFill>
              <a:latin typeface="Helvetica Neue" panose="02000503000000020004"/>
              <a:ea typeface="Helvetica Neue" panose="02000503000000020004"/>
              <a:cs typeface="Helvetica Neue" panose="02000503000000020004"/>
            </a:endParaRPr>
          </a:p>
        </p:txBody>
      </p:sp>
      <p:sp>
        <p:nvSpPr>
          <p:cNvPr id="20" name="展示并投入真实使用"/>
          <p:cNvSpPr>
            <a:spLocks noGrp="1"/>
          </p:cNvSpPr>
          <p:nvPr/>
        </p:nvSpPr>
        <p:spPr>
          <a:xfrm>
            <a:off x="5915025" y="4895850"/>
            <a:ext cx="5572125" cy="342900"/>
          </a:xfrm>
          <a:prstGeom prst="rect">
            <a:avLst/>
          </a:prstGeom>
          <a:noFill/>
          <a:ln w="0">
            <a:noFill/>
          </a:ln>
        </p:spPr>
        <p:txBody>
          <a:bodyPr wrap="square" lIns="0" tIns="0" rIns="0" bIns="0">
            <a:noAutofit/>
          </a:bodyPr>
          <a:lstStyle/>
          <a:p>
            <a:pPr>
              <a:buNone/>
              <a:defRPr sz="2025" b="1">
                <a:solidFill>
                  <a:srgbClr val="FFFFFF"/>
                </a:solidFill>
                <a:latin typeface="Hiragino Sans GB" panose="020B0300000000000000" charset="-122"/>
                <a:ea typeface="Hiragino Sans GB" panose="020B0300000000000000" charset="-122"/>
                <a:cs typeface="Hiragino Sans GB" panose="020B0300000000000000" charset="-122"/>
              </a:defRPr>
            </a:pPr>
            <a:r>
              <a:rPr sz="2025" b="1">
                <a:solidFill>
                  <a:srgbClr val="FFFFFF"/>
                </a:solidFill>
                <a:latin typeface="Hiragino Sans GB" panose="020B0300000000000000" charset="-122"/>
                <a:ea typeface="Hiragino Sans GB" panose="020B0300000000000000" charset="-122"/>
                <a:cs typeface="Hiragino Sans GB" panose="020B0300000000000000" charset="-122"/>
              </a:rPr>
              <a:t>提交成品，收到确认与评选安排</a:t>
            </a:r>
            <a:endParaRPr sz="2025"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21" name="让作品回到课堂、社团或实际项目"/>
          <p:cNvSpPr>
            <a:spLocks noGrp="1"/>
          </p:cNvSpPr>
          <p:nvPr/>
        </p:nvSpPr>
        <p:spPr>
          <a:xfrm>
            <a:off x="5915025" y="5276850"/>
            <a:ext cx="5572125" cy="504825"/>
          </a:xfrm>
          <a:prstGeom prst="rect">
            <a:avLst/>
          </a:prstGeom>
          <a:noFill/>
          <a:ln w="0">
            <a:noFill/>
          </a:ln>
        </p:spPr>
        <p:txBody>
          <a:bodyPr wrap="square" lIns="0" tIns="0" rIns="0" bIns="0">
            <a:noAutofit/>
          </a:bodyPr>
          <a:lstStyle/>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成品附一页说明，写清 Cheso 参与的部分。</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CFCFCF"/>
                </a:solidFill>
                <a:latin typeface="Hiragino Sans GB" panose="020B0300000000000000" charset="-122"/>
                <a:ea typeface="Hiragino Sans GB" panose="020B0300000000000000" charset="-122"/>
                <a:cs typeface="Hiragino Sans GB" panose="020B0300000000000000" charset="-122"/>
              </a:defRPr>
            </a:pPr>
            <a:r>
              <a:rPr sz="1650" b="0">
                <a:solidFill>
                  <a:srgbClr val="CFCFCF"/>
                </a:solidFill>
                <a:latin typeface="Hiragino Sans GB" panose="020B0300000000000000" charset="-122"/>
                <a:ea typeface="Hiragino Sans GB" panose="020B0300000000000000" charset="-122"/>
                <a:cs typeface="Hiragino Sans GB" panose="020B0300000000000000" charset="-122"/>
              </a:rPr>
              <a:t>运营检查文件，缺项一次性通知补齐。</a:t>
            </a:r>
            <a:endParaRPr sz="1650" b="0">
              <a:solidFill>
                <a:srgbClr val="CFCFCF"/>
              </a:solidFill>
              <a:latin typeface="Hiragino Sans GB" panose="020B0300000000000000" charset="-122"/>
              <a:ea typeface="Hiragino Sans GB" panose="020B0300000000000000" charset="-122"/>
              <a:cs typeface="Hiragino Sans GB" panose="020B0300000000000000" charset="-122"/>
            </a:endParaRPr>
          </a:p>
        </p:txBody>
      </p:sp>
      <p:sp>
        <p:nvSpPr>
          <p:cNvPr id="23" name="Reply arrangement"/>
          <p:cNvSpPr>
            <a:spLocks noGrp="1"/>
          </p:cNvSpPr>
          <p:nvPr/>
        </p:nvSpPr>
        <p:spPr>
          <a:xfrm>
            <a:off x="685800" y="6200775"/>
            <a:ext cx="10820400" cy="419100"/>
          </a:xfrm>
          <a:prstGeom prst="rect">
            <a:avLst/>
          </a:prstGeom>
          <a:noFill/>
          <a:ln w="0">
            <a:noFill/>
          </a:ln>
        </p:spPr>
        <p:txBody>
          <a:bodyPr wrap="square" lIns="0" tIns="0" rIns="0" bIns="0">
            <a:noAutofit/>
          </a:bodyPr>
          <a:lstStyle/>
          <a:p>
            <a:pPr>
              <a:defRPr sz="1350" b="0">
                <a:solidFill>
                  <a:srgbClr val="CFCFCF"/>
                </a:solidFill>
                <a:latin typeface="Hiragino Sans GB" panose="020B0300000000000000" charset="-122"/>
                <a:ea typeface="Hiragino Sans GB" panose="020B0300000000000000" charset="-122"/>
                <a:cs typeface="Hiragino Sans GB" panose="020B0300000000000000" charset="-122"/>
              </a:defRPr>
            </a:pPr>
            <a:r>
              <a:rPr sz="1350" b="0">
                <a:solidFill>
                  <a:srgbClr val="CFCFCF"/>
                </a:solidFill>
                <a:latin typeface="Hiragino Sans GB" panose="020B0300000000000000" charset="-122"/>
                <a:ea typeface="Hiragino Sans GB" panose="020B0300000000000000" charset="-122"/>
                <a:cs typeface="Hiragino Sans GB" panose="020B0300000000000000" charset="-122"/>
              </a:rPr>
              <a:t>拟在两个工作日内回复报名与问题。回复时限、补交规则和负责人的联系方式，随公告发布。</a:t>
            </a:r>
            <a:endParaRPr sz="1350" b="0">
              <a:solidFill>
                <a:srgbClr val="CFCFCF"/>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2"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6"/>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07</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学生获得什么"/>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参赛能得到什么</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先完成自己的任务，再获得作品点评与展示机会。"/>
          <p:cNvSpPr>
            <a:spLocks noGrp="1"/>
          </p:cNvSpPr>
          <p:nvPr/>
        </p:nvSpPr>
        <p:spPr>
          <a:xfrm>
            <a:off x="685800" y="1733550"/>
            <a:ext cx="10820400" cy="476250"/>
          </a:xfrm>
          <a:prstGeom prst="rect">
            <a:avLst/>
          </a:prstGeom>
          <a:noFill/>
          <a:ln w="0">
            <a:noFill/>
          </a:ln>
        </p:spPr>
        <p:txBody>
          <a:bodyPr wrap="square" lIns="0" tIns="0" rIns="0" bIns="0">
            <a:noAutofit/>
          </a:bodyPr>
          <a:lstStyle/>
          <a:p>
            <a:pPr>
              <a:buNone/>
              <a:defRPr sz="2100" b="0">
                <a:solidFill>
                  <a:srgbClr val="171717"/>
                </a:solidFill>
                <a:latin typeface="Hiragino Sans GB" panose="020B0300000000000000" charset="-122"/>
                <a:ea typeface="Hiragino Sans GB" panose="020B0300000000000000" charset="-122"/>
                <a:cs typeface="Hiragino Sans GB" panose="020B0300000000000000" charset="-122"/>
              </a:defRPr>
            </a:pPr>
            <a:r>
              <a:rPr sz="2100" b="0">
                <a:solidFill>
                  <a:srgbClr val="171717"/>
                </a:solidFill>
                <a:latin typeface="Hiragino Sans GB" panose="020B0300000000000000" charset="-122"/>
                <a:ea typeface="Hiragino Sans GB" panose="020B0300000000000000" charset="-122"/>
                <a:cs typeface="Hiragino Sans GB" panose="020B0300000000000000" charset="-122"/>
              </a:rPr>
              <a:t>入选后获得试用支持。每份合规作品都有一次点评，未获奖也会收到建议。</a:t>
            </a:r>
            <a:endParaRPr sz="210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5" name="01"/>
          <p:cNvSpPr>
            <a:spLocks noGrp="1"/>
          </p:cNvSpPr>
          <p:nvPr/>
        </p:nvSpPr>
        <p:spPr>
          <a:xfrm>
            <a:off x="685800" y="2705100"/>
            <a:ext cx="2952750" cy="371475"/>
          </a:xfrm>
          <a:prstGeom prst="rect">
            <a:avLst/>
          </a:prstGeom>
          <a:noFill/>
          <a:ln w="0">
            <a:noFill/>
          </a:ln>
        </p:spPr>
        <p:txBody>
          <a:bodyPr wrap="square" lIns="0" tIns="0" rIns="0" bIns="0">
            <a:noAutofit/>
          </a:bodyPr>
          <a:lstStyle/>
          <a:p>
            <a:pPr>
              <a:buNone/>
              <a:defRPr sz="1725" b="1">
                <a:solidFill>
                  <a:srgbClr val="6B6B6B"/>
                </a:solidFill>
                <a:latin typeface="Helvetica Neue" panose="02000503000000020004"/>
                <a:ea typeface="Helvetica Neue" panose="02000503000000020004"/>
                <a:cs typeface="Helvetica Neue" panose="02000503000000020004"/>
              </a:defRPr>
            </a:pPr>
            <a:r>
              <a:rPr sz="1725" b="1">
                <a:solidFill>
                  <a:srgbClr val="6B6B6B"/>
                </a:solidFill>
                <a:latin typeface="Helvetica Neue" panose="02000503000000020004"/>
                <a:ea typeface="Helvetica Neue" panose="02000503000000020004"/>
                <a:cs typeface="Helvetica Neue" panose="02000503000000020004"/>
              </a:rPr>
              <a:t>01</a:t>
            </a:r>
            <a:endParaRPr sz="1725" b="1">
              <a:solidFill>
                <a:srgbClr val="6B6B6B"/>
              </a:solidFill>
              <a:latin typeface="Helvetica Neue" panose="02000503000000020004"/>
              <a:ea typeface="Helvetica Neue" panose="02000503000000020004"/>
              <a:cs typeface="Helvetica Neue" panose="02000503000000020004"/>
            </a:endParaRPr>
          </a:p>
        </p:txBody>
      </p:sp>
      <p:sp>
        <p:nvSpPr>
          <p:cNvPr id="6" name="最佳内容表达"/>
          <p:cNvSpPr>
            <a:spLocks noGrp="1"/>
          </p:cNvSpPr>
          <p:nvPr/>
        </p:nvSpPr>
        <p:spPr>
          <a:xfrm>
            <a:off x="685800" y="3276600"/>
            <a:ext cx="3467100" cy="504825"/>
          </a:xfrm>
          <a:prstGeom prst="rect">
            <a:avLst/>
          </a:prstGeom>
          <a:noFill/>
          <a:ln w="0">
            <a:noFill/>
          </a:ln>
        </p:spPr>
        <p:txBody>
          <a:bodyPr wrap="square" lIns="0" tIns="0" rIns="0" bIns="0">
            <a:noAutofit/>
          </a:bodyPr>
          <a:lstStyle/>
          <a:p>
            <a:pPr>
              <a:buNone/>
              <a:defRPr sz="2550" b="1">
                <a:solidFill>
                  <a:srgbClr val="171717"/>
                </a:solidFill>
                <a:latin typeface="Hiragino Sans GB" panose="020B0300000000000000" charset="-122"/>
                <a:ea typeface="Hiragino Sans GB" panose="020B0300000000000000" charset="-122"/>
                <a:cs typeface="Hiragino Sans GB" panose="020B0300000000000000" charset="-122"/>
              </a:defRPr>
            </a:pPr>
            <a:r>
              <a:rPr sz="2550" b="1">
                <a:solidFill>
                  <a:srgbClr val="171717"/>
                </a:solidFill>
                <a:latin typeface="Hiragino Sans GB" panose="020B0300000000000000" charset="-122"/>
                <a:ea typeface="Hiragino Sans GB" panose="020B0300000000000000" charset="-122"/>
                <a:cs typeface="Hiragino Sans GB" panose="020B0300000000000000" charset="-122"/>
              </a:rPr>
              <a:t>最佳内容表达</a:t>
            </a:r>
            <a:endParaRPr sz="25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7" name="1,000"/>
          <p:cNvSpPr>
            <a:spLocks noGrp="1"/>
          </p:cNvSpPr>
          <p:nvPr/>
        </p:nvSpPr>
        <p:spPr>
          <a:xfrm>
            <a:off x="685800" y="4095750"/>
            <a:ext cx="2800350" cy="733425"/>
          </a:xfrm>
          <a:prstGeom prst="rect">
            <a:avLst/>
          </a:prstGeom>
          <a:noFill/>
          <a:ln w="0">
            <a:noFill/>
          </a:ln>
        </p:spPr>
        <p:txBody>
          <a:bodyPr wrap="square" lIns="0" tIns="0" rIns="0" bIns="0">
            <a:noAutofit/>
          </a:bodyPr>
          <a:lstStyle/>
          <a:p>
            <a:pPr>
              <a:buNone/>
              <a:defRPr sz="4950" b="1">
                <a:solidFill>
                  <a:srgbClr val="171717"/>
                </a:solidFill>
                <a:latin typeface="Helvetica Neue" panose="02000503000000020004"/>
                <a:ea typeface="Helvetica Neue" panose="02000503000000020004"/>
                <a:cs typeface="Helvetica Neue" panose="02000503000000020004"/>
              </a:defRPr>
            </a:pPr>
            <a:r>
              <a:rPr sz="4950" b="1">
                <a:solidFill>
                  <a:srgbClr val="171717"/>
                </a:solidFill>
                <a:latin typeface="Helvetica Neue" panose="02000503000000020004"/>
                <a:ea typeface="Helvetica Neue" panose="02000503000000020004"/>
                <a:cs typeface="Helvetica Neue" panose="02000503000000020004"/>
              </a:rPr>
              <a:t>1,000</a:t>
            </a:r>
            <a:endParaRPr sz="4950" b="1">
              <a:solidFill>
                <a:srgbClr val="171717"/>
              </a:solidFill>
              <a:latin typeface="Helvetica Neue" panose="02000503000000020004"/>
              <a:ea typeface="Helvetica Neue" panose="02000503000000020004"/>
              <a:cs typeface="Helvetica Neue" panose="02000503000000020004"/>
            </a:endParaRPr>
          </a:p>
        </p:txBody>
      </p:sp>
      <p:sp>
        <p:nvSpPr>
          <p:cNvPr id="8" name="元"/>
          <p:cNvSpPr>
            <a:spLocks noGrp="1"/>
          </p:cNvSpPr>
          <p:nvPr/>
        </p:nvSpPr>
        <p:spPr>
          <a:xfrm>
            <a:off x="3371850" y="4419600"/>
            <a:ext cx="647700" cy="381000"/>
          </a:xfrm>
          <a:prstGeom prst="rect">
            <a:avLst/>
          </a:prstGeom>
          <a:noFill/>
          <a:ln w="0">
            <a:noFill/>
          </a:ln>
        </p:spPr>
        <p:txBody>
          <a:bodyPr wrap="square" lIns="0" tIns="0" rIns="0" bIns="0">
            <a:noAutofit/>
          </a:bodyPr>
          <a:lstStyle/>
          <a:p>
            <a:pPr>
              <a:buNone/>
              <a:defRPr sz="1875" b="0">
                <a:solidFill>
                  <a:srgbClr val="171717"/>
                </a:solidFill>
                <a:latin typeface="Hiragino Sans GB" panose="020B0300000000000000" charset="-122"/>
                <a:ea typeface="Hiragino Sans GB" panose="020B0300000000000000" charset="-122"/>
                <a:cs typeface="Hiragino Sans GB" panose="020B0300000000000000" charset="-122"/>
              </a:defRPr>
            </a:pPr>
            <a:r>
              <a:rPr sz="1875" b="0">
                <a:solidFill>
                  <a:srgbClr val="171717"/>
                </a:solidFill>
                <a:latin typeface="Hiragino Sans GB" panose="020B0300000000000000" charset="-122"/>
                <a:ea typeface="Hiragino Sans GB" panose="020B0300000000000000" charset="-122"/>
                <a:cs typeface="Hiragino Sans GB" panose="020B0300000000000000" charset="-122"/>
              </a:rPr>
              <a:t>元</a:t>
            </a:r>
            <a:endParaRPr sz="187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9" name="Background band"/>
          <p:cNvSpPr>
            <a:spLocks noGrp="1"/>
          </p:cNvSpPr>
          <p:nvPr/>
        </p:nvSpPr>
        <p:spPr>
          <a:xfrm>
            <a:off x="685800" y="5095875"/>
            <a:ext cx="3238500" cy="9525"/>
          </a:xfrm>
          <a:prstGeom prst="rect">
            <a:avLst/>
          </a:prstGeom>
          <a:solidFill>
            <a:srgbClr val="DADADA"/>
          </a:solidFill>
          <a:ln w="0">
            <a:noFill/>
          </a:ln>
        </p:spPr>
      </p:sp>
      <p:sp>
        <p:nvSpPr>
          <p:cNvPr id="10" name="02"/>
          <p:cNvSpPr>
            <a:spLocks noGrp="1"/>
          </p:cNvSpPr>
          <p:nvPr/>
        </p:nvSpPr>
        <p:spPr>
          <a:xfrm>
            <a:off x="4362450" y="2705100"/>
            <a:ext cx="2952750" cy="371475"/>
          </a:xfrm>
          <a:prstGeom prst="rect">
            <a:avLst/>
          </a:prstGeom>
          <a:noFill/>
          <a:ln w="0">
            <a:noFill/>
          </a:ln>
        </p:spPr>
        <p:txBody>
          <a:bodyPr wrap="square" lIns="0" tIns="0" rIns="0" bIns="0">
            <a:noAutofit/>
          </a:bodyPr>
          <a:lstStyle/>
          <a:p>
            <a:pPr>
              <a:buNone/>
              <a:defRPr sz="1725" b="1">
                <a:solidFill>
                  <a:srgbClr val="6B6B6B"/>
                </a:solidFill>
                <a:latin typeface="Helvetica Neue" panose="02000503000000020004"/>
                <a:ea typeface="Helvetica Neue" panose="02000503000000020004"/>
                <a:cs typeface="Helvetica Neue" panose="02000503000000020004"/>
              </a:defRPr>
            </a:pPr>
            <a:r>
              <a:rPr sz="1725" b="1">
                <a:solidFill>
                  <a:srgbClr val="6B6B6B"/>
                </a:solidFill>
                <a:latin typeface="Helvetica Neue" panose="02000503000000020004"/>
                <a:ea typeface="Helvetica Neue" panose="02000503000000020004"/>
                <a:cs typeface="Helvetica Neue" panose="02000503000000020004"/>
              </a:rPr>
              <a:t>02</a:t>
            </a:r>
            <a:endParaRPr sz="1725" b="1">
              <a:solidFill>
                <a:srgbClr val="6B6B6B"/>
              </a:solidFill>
              <a:latin typeface="Helvetica Neue" panose="02000503000000020004"/>
              <a:ea typeface="Helvetica Neue" panose="02000503000000020004"/>
              <a:cs typeface="Helvetica Neue" panose="02000503000000020004"/>
            </a:endParaRPr>
          </a:p>
        </p:txBody>
      </p:sp>
      <p:sp>
        <p:nvSpPr>
          <p:cNvPr id="11" name="最佳视觉呈现"/>
          <p:cNvSpPr>
            <a:spLocks noGrp="1"/>
          </p:cNvSpPr>
          <p:nvPr/>
        </p:nvSpPr>
        <p:spPr>
          <a:xfrm>
            <a:off x="4362450" y="3276600"/>
            <a:ext cx="3467100" cy="504825"/>
          </a:xfrm>
          <a:prstGeom prst="rect">
            <a:avLst/>
          </a:prstGeom>
          <a:noFill/>
          <a:ln w="0">
            <a:noFill/>
          </a:ln>
        </p:spPr>
        <p:txBody>
          <a:bodyPr wrap="square" lIns="0" tIns="0" rIns="0" bIns="0">
            <a:noAutofit/>
          </a:bodyPr>
          <a:lstStyle/>
          <a:p>
            <a:pPr>
              <a:buNone/>
              <a:defRPr sz="2550" b="1">
                <a:solidFill>
                  <a:srgbClr val="171717"/>
                </a:solidFill>
                <a:latin typeface="Hiragino Sans GB" panose="020B0300000000000000" charset="-122"/>
                <a:ea typeface="Hiragino Sans GB" panose="020B0300000000000000" charset="-122"/>
                <a:cs typeface="Hiragino Sans GB" panose="020B0300000000000000" charset="-122"/>
              </a:defRPr>
            </a:pPr>
            <a:r>
              <a:rPr sz="2550" b="1">
                <a:solidFill>
                  <a:srgbClr val="171717"/>
                </a:solidFill>
                <a:latin typeface="Hiragino Sans GB" panose="020B0300000000000000" charset="-122"/>
                <a:ea typeface="Hiragino Sans GB" panose="020B0300000000000000" charset="-122"/>
                <a:cs typeface="Hiragino Sans GB" panose="020B0300000000000000" charset="-122"/>
              </a:rPr>
              <a:t>最佳视觉呈现</a:t>
            </a:r>
            <a:endParaRPr sz="25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2" name="1,000"/>
          <p:cNvSpPr>
            <a:spLocks noGrp="1"/>
          </p:cNvSpPr>
          <p:nvPr/>
        </p:nvSpPr>
        <p:spPr>
          <a:xfrm>
            <a:off x="4362450" y="4095750"/>
            <a:ext cx="2800350" cy="733425"/>
          </a:xfrm>
          <a:prstGeom prst="rect">
            <a:avLst/>
          </a:prstGeom>
          <a:noFill/>
          <a:ln w="0">
            <a:noFill/>
          </a:ln>
        </p:spPr>
        <p:txBody>
          <a:bodyPr wrap="square" lIns="0" tIns="0" rIns="0" bIns="0">
            <a:noAutofit/>
          </a:bodyPr>
          <a:lstStyle/>
          <a:p>
            <a:pPr>
              <a:buNone/>
              <a:defRPr sz="4950" b="1">
                <a:solidFill>
                  <a:srgbClr val="171717"/>
                </a:solidFill>
                <a:latin typeface="Helvetica Neue" panose="02000503000000020004"/>
                <a:ea typeface="Helvetica Neue" panose="02000503000000020004"/>
                <a:cs typeface="Helvetica Neue" panose="02000503000000020004"/>
              </a:defRPr>
            </a:pPr>
            <a:r>
              <a:rPr sz="4950" b="1">
                <a:solidFill>
                  <a:srgbClr val="171717"/>
                </a:solidFill>
                <a:latin typeface="Helvetica Neue" panose="02000503000000020004"/>
                <a:ea typeface="Helvetica Neue" panose="02000503000000020004"/>
                <a:cs typeface="Helvetica Neue" panose="02000503000000020004"/>
              </a:rPr>
              <a:t>1,000</a:t>
            </a:r>
            <a:endParaRPr sz="4950" b="1">
              <a:solidFill>
                <a:srgbClr val="171717"/>
              </a:solidFill>
              <a:latin typeface="Helvetica Neue" panose="02000503000000020004"/>
              <a:ea typeface="Helvetica Neue" panose="02000503000000020004"/>
              <a:cs typeface="Helvetica Neue" panose="02000503000000020004"/>
            </a:endParaRPr>
          </a:p>
        </p:txBody>
      </p:sp>
      <p:sp>
        <p:nvSpPr>
          <p:cNvPr id="13" name="元"/>
          <p:cNvSpPr>
            <a:spLocks noGrp="1"/>
          </p:cNvSpPr>
          <p:nvPr/>
        </p:nvSpPr>
        <p:spPr>
          <a:xfrm>
            <a:off x="7048500" y="4419600"/>
            <a:ext cx="647700" cy="381000"/>
          </a:xfrm>
          <a:prstGeom prst="rect">
            <a:avLst/>
          </a:prstGeom>
          <a:noFill/>
          <a:ln w="0">
            <a:noFill/>
          </a:ln>
        </p:spPr>
        <p:txBody>
          <a:bodyPr wrap="square" lIns="0" tIns="0" rIns="0" bIns="0">
            <a:noAutofit/>
          </a:bodyPr>
          <a:lstStyle/>
          <a:p>
            <a:pPr>
              <a:buNone/>
              <a:defRPr sz="1875" b="0">
                <a:solidFill>
                  <a:srgbClr val="171717"/>
                </a:solidFill>
                <a:latin typeface="Hiragino Sans GB" panose="020B0300000000000000" charset="-122"/>
                <a:ea typeface="Hiragino Sans GB" panose="020B0300000000000000" charset="-122"/>
                <a:cs typeface="Hiragino Sans GB" panose="020B0300000000000000" charset="-122"/>
              </a:defRPr>
            </a:pPr>
            <a:r>
              <a:rPr sz="1875" b="0">
                <a:solidFill>
                  <a:srgbClr val="171717"/>
                </a:solidFill>
                <a:latin typeface="Hiragino Sans GB" panose="020B0300000000000000" charset="-122"/>
                <a:ea typeface="Hiragino Sans GB" panose="020B0300000000000000" charset="-122"/>
                <a:cs typeface="Hiragino Sans GB" panose="020B0300000000000000" charset="-122"/>
              </a:rPr>
              <a:t>元</a:t>
            </a:r>
            <a:endParaRPr sz="187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4" name="Background band"/>
          <p:cNvSpPr>
            <a:spLocks noGrp="1"/>
          </p:cNvSpPr>
          <p:nvPr/>
        </p:nvSpPr>
        <p:spPr>
          <a:xfrm>
            <a:off x="4362450" y="5095875"/>
            <a:ext cx="3238500" cy="9525"/>
          </a:xfrm>
          <a:prstGeom prst="rect">
            <a:avLst/>
          </a:prstGeom>
          <a:solidFill>
            <a:srgbClr val="DADADA"/>
          </a:solidFill>
          <a:ln w="0">
            <a:noFill/>
          </a:ln>
        </p:spPr>
      </p:sp>
      <p:sp>
        <p:nvSpPr>
          <p:cNvPr id="15" name="03"/>
          <p:cNvSpPr>
            <a:spLocks noGrp="1"/>
          </p:cNvSpPr>
          <p:nvPr/>
        </p:nvSpPr>
        <p:spPr>
          <a:xfrm>
            <a:off x="8039100" y="2705100"/>
            <a:ext cx="2952750" cy="371475"/>
          </a:xfrm>
          <a:prstGeom prst="rect">
            <a:avLst/>
          </a:prstGeom>
          <a:noFill/>
          <a:ln w="0">
            <a:noFill/>
          </a:ln>
        </p:spPr>
        <p:txBody>
          <a:bodyPr wrap="square" lIns="0" tIns="0" rIns="0" bIns="0">
            <a:noAutofit/>
          </a:bodyPr>
          <a:lstStyle/>
          <a:p>
            <a:pPr>
              <a:buNone/>
              <a:defRPr sz="1725" b="1">
                <a:solidFill>
                  <a:srgbClr val="6B6B6B"/>
                </a:solidFill>
                <a:latin typeface="Helvetica Neue" panose="02000503000000020004"/>
                <a:ea typeface="Helvetica Neue" panose="02000503000000020004"/>
                <a:cs typeface="Helvetica Neue" panose="02000503000000020004"/>
              </a:defRPr>
            </a:pPr>
            <a:r>
              <a:rPr sz="1725" b="1">
                <a:solidFill>
                  <a:srgbClr val="6B6B6B"/>
                </a:solidFill>
                <a:latin typeface="Helvetica Neue" panose="02000503000000020004"/>
                <a:ea typeface="Helvetica Neue" panose="02000503000000020004"/>
                <a:cs typeface="Helvetica Neue" panose="02000503000000020004"/>
              </a:rPr>
              <a:t>03</a:t>
            </a:r>
            <a:endParaRPr sz="1725" b="1">
              <a:solidFill>
                <a:srgbClr val="6B6B6B"/>
              </a:solidFill>
              <a:latin typeface="Helvetica Neue" panose="02000503000000020004"/>
              <a:ea typeface="Helvetica Neue" panose="02000503000000020004"/>
              <a:cs typeface="Helvetica Neue" panose="02000503000000020004"/>
            </a:endParaRPr>
          </a:p>
        </p:txBody>
      </p:sp>
      <p:sp>
        <p:nvSpPr>
          <p:cNvPr id="16" name="最佳真实应用"/>
          <p:cNvSpPr>
            <a:spLocks noGrp="1"/>
          </p:cNvSpPr>
          <p:nvPr/>
        </p:nvSpPr>
        <p:spPr>
          <a:xfrm>
            <a:off x="8039100" y="3276600"/>
            <a:ext cx="3467100" cy="504825"/>
          </a:xfrm>
          <a:prstGeom prst="rect">
            <a:avLst/>
          </a:prstGeom>
          <a:noFill/>
          <a:ln w="0">
            <a:noFill/>
          </a:ln>
        </p:spPr>
        <p:txBody>
          <a:bodyPr wrap="square" lIns="0" tIns="0" rIns="0" bIns="0">
            <a:noAutofit/>
          </a:bodyPr>
          <a:lstStyle/>
          <a:p>
            <a:pPr>
              <a:buNone/>
              <a:defRPr sz="2550" b="1">
                <a:solidFill>
                  <a:srgbClr val="171717"/>
                </a:solidFill>
                <a:latin typeface="Hiragino Sans GB" panose="020B0300000000000000" charset="-122"/>
                <a:ea typeface="Hiragino Sans GB" panose="020B0300000000000000" charset="-122"/>
                <a:cs typeface="Hiragino Sans GB" panose="020B0300000000000000" charset="-122"/>
              </a:defRPr>
            </a:pPr>
            <a:r>
              <a:rPr sz="2550" b="1">
                <a:solidFill>
                  <a:srgbClr val="171717"/>
                </a:solidFill>
                <a:latin typeface="Hiragino Sans GB" panose="020B0300000000000000" charset="-122"/>
                <a:ea typeface="Hiragino Sans GB" panose="020B0300000000000000" charset="-122"/>
                <a:cs typeface="Hiragino Sans GB" panose="020B0300000000000000" charset="-122"/>
              </a:rPr>
              <a:t>最佳选题创意</a:t>
            </a:r>
            <a:endParaRPr sz="25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7" name="1,000"/>
          <p:cNvSpPr>
            <a:spLocks noGrp="1"/>
          </p:cNvSpPr>
          <p:nvPr/>
        </p:nvSpPr>
        <p:spPr>
          <a:xfrm>
            <a:off x="8039100" y="4095750"/>
            <a:ext cx="2800350" cy="733425"/>
          </a:xfrm>
          <a:prstGeom prst="rect">
            <a:avLst/>
          </a:prstGeom>
          <a:noFill/>
          <a:ln w="0">
            <a:noFill/>
          </a:ln>
        </p:spPr>
        <p:txBody>
          <a:bodyPr wrap="square" lIns="0" tIns="0" rIns="0" bIns="0">
            <a:noAutofit/>
          </a:bodyPr>
          <a:lstStyle/>
          <a:p>
            <a:pPr>
              <a:buNone/>
              <a:defRPr sz="4950" b="1">
                <a:solidFill>
                  <a:srgbClr val="171717"/>
                </a:solidFill>
                <a:latin typeface="Helvetica Neue" panose="02000503000000020004"/>
                <a:ea typeface="Helvetica Neue" panose="02000503000000020004"/>
                <a:cs typeface="Helvetica Neue" panose="02000503000000020004"/>
              </a:defRPr>
            </a:pPr>
            <a:r>
              <a:rPr sz="4950" b="1">
                <a:solidFill>
                  <a:srgbClr val="171717"/>
                </a:solidFill>
                <a:latin typeface="Helvetica Neue" panose="02000503000000020004"/>
                <a:ea typeface="Helvetica Neue" panose="02000503000000020004"/>
                <a:cs typeface="Helvetica Neue" panose="02000503000000020004"/>
              </a:rPr>
              <a:t>1,000</a:t>
            </a:r>
            <a:endParaRPr sz="4950" b="1">
              <a:solidFill>
                <a:srgbClr val="171717"/>
              </a:solidFill>
              <a:latin typeface="Helvetica Neue" panose="02000503000000020004"/>
              <a:ea typeface="Helvetica Neue" panose="02000503000000020004"/>
              <a:cs typeface="Helvetica Neue" panose="02000503000000020004"/>
            </a:endParaRPr>
          </a:p>
        </p:txBody>
      </p:sp>
      <p:sp>
        <p:nvSpPr>
          <p:cNvPr id="18" name="元"/>
          <p:cNvSpPr>
            <a:spLocks noGrp="1"/>
          </p:cNvSpPr>
          <p:nvPr/>
        </p:nvSpPr>
        <p:spPr>
          <a:xfrm>
            <a:off x="10725150" y="4419600"/>
            <a:ext cx="647700" cy="381000"/>
          </a:xfrm>
          <a:prstGeom prst="rect">
            <a:avLst/>
          </a:prstGeom>
          <a:noFill/>
          <a:ln w="0">
            <a:noFill/>
          </a:ln>
        </p:spPr>
        <p:txBody>
          <a:bodyPr wrap="square" lIns="0" tIns="0" rIns="0" bIns="0">
            <a:noAutofit/>
          </a:bodyPr>
          <a:lstStyle/>
          <a:p>
            <a:pPr>
              <a:buNone/>
              <a:defRPr sz="1875" b="0">
                <a:solidFill>
                  <a:srgbClr val="171717"/>
                </a:solidFill>
                <a:latin typeface="Hiragino Sans GB" panose="020B0300000000000000" charset="-122"/>
                <a:ea typeface="Hiragino Sans GB" panose="020B0300000000000000" charset="-122"/>
                <a:cs typeface="Hiragino Sans GB" panose="020B0300000000000000" charset="-122"/>
              </a:defRPr>
            </a:pPr>
            <a:r>
              <a:rPr sz="1875" b="0">
                <a:solidFill>
                  <a:srgbClr val="171717"/>
                </a:solidFill>
                <a:latin typeface="Hiragino Sans GB" panose="020B0300000000000000" charset="-122"/>
                <a:ea typeface="Hiragino Sans GB" panose="020B0300000000000000" charset="-122"/>
                <a:cs typeface="Hiragino Sans GB" panose="020B0300000000000000" charset="-122"/>
              </a:rPr>
              <a:t>元</a:t>
            </a:r>
            <a:endParaRPr sz="187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9" name="Background band"/>
          <p:cNvSpPr>
            <a:spLocks noGrp="1"/>
          </p:cNvSpPr>
          <p:nvPr/>
        </p:nvSpPr>
        <p:spPr>
          <a:xfrm>
            <a:off x="8039100" y="5095875"/>
            <a:ext cx="3238500" cy="9525"/>
          </a:xfrm>
          <a:prstGeom prst="rect">
            <a:avLst/>
          </a:prstGeom>
          <a:solidFill>
            <a:srgbClr val="DADADA"/>
          </a:solidFill>
          <a:ln w="0">
            <a:noFill/>
          </a:ln>
        </p:spPr>
      </p:sp>
      <p:sp>
        <p:nvSpPr>
          <p:cNvPr id="20" name="拟设三项奖励，金额待批准。学生自愿参加公开展示。"/>
          <p:cNvSpPr>
            <a:spLocks noGrp="1"/>
          </p:cNvSpPr>
          <p:nvPr/>
        </p:nvSpPr>
        <p:spPr>
          <a:xfrm>
            <a:off x="685800" y="5524500"/>
            <a:ext cx="10820400" cy="400050"/>
          </a:xfrm>
          <a:prstGeom prst="rect">
            <a:avLst/>
          </a:prstGeom>
          <a:noFill/>
          <a:ln w="0">
            <a:noFill/>
          </a:ln>
        </p:spPr>
        <p:txBody>
          <a:bodyPr wrap="square" lIns="0" tIns="0" rIns="0" bIns="0">
            <a:noAutofit/>
          </a:bodyPr>
          <a:lstStyle/>
          <a:p>
            <a:pPr>
              <a:buNone/>
              <a:defRPr sz="1725" b="1">
                <a:solidFill>
                  <a:srgbClr val="171717"/>
                </a:solidFill>
                <a:latin typeface="Hiragino Sans GB" panose="020B0300000000000000" charset="-122"/>
                <a:ea typeface="Hiragino Sans GB" panose="020B0300000000000000" charset="-122"/>
                <a:cs typeface="Hiragino Sans GB" panose="020B0300000000000000" charset="-122"/>
              </a:defRPr>
            </a:pPr>
            <a:r>
              <a:rPr sz="1725" b="1">
                <a:solidFill>
                  <a:srgbClr val="171717"/>
                </a:solidFill>
                <a:latin typeface="Hiragino Sans GB" panose="020B0300000000000000" charset="-122"/>
                <a:ea typeface="Hiragino Sans GB" panose="020B0300000000000000" charset="-122"/>
                <a:cs typeface="Hiragino Sans GB" panose="020B0300000000000000" charset="-122"/>
              </a:rPr>
              <a:t>拟设三个奖项，每项 1,000 元。每组最多获一项，评审异议处理后确认获奖名单。</a:t>
            </a:r>
            <a:endParaRPr sz="17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21" name="不绑定转发、拉票或邀请人数。公开展示另征授权，商业采用另谈报酬。"/>
          <p:cNvSpPr>
            <a:spLocks noGrp="1"/>
          </p:cNvSpPr>
          <p:nvPr/>
        </p:nvSpPr>
        <p:spPr>
          <a:xfrm>
            <a:off x="685800" y="6200775"/>
            <a:ext cx="10820400" cy="419100"/>
          </a:xfrm>
          <a:prstGeom prst="rect">
            <a:avLst/>
          </a:prstGeom>
          <a:noFill/>
          <a:ln w="0">
            <a:noFill/>
          </a:ln>
        </p:spPr>
        <p:txBody>
          <a:bodyPr wrap="square" lIns="0" tIns="0" rIns="0" bIns="0">
            <a:noAutofit/>
          </a:bodyPr>
          <a:lstStyle/>
          <a:p>
            <a:pPr>
              <a:buNone/>
              <a:defRPr sz="1350" b="0">
                <a:solidFill>
                  <a:srgbClr val="171717"/>
                </a:solidFill>
                <a:latin typeface="Hiragino Sans GB" panose="020B0300000000000000" charset="-122"/>
                <a:ea typeface="Hiragino Sans GB" panose="020B0300000000000000" charset="-122"/>
                <a:cs typeface="Hiragino Sans GB" panose="020B0300000000000000" charset="-122"/>
              </a:defRPr>
            </a:pPr>
            <a:r>
              <a:rPr sz="1350" b="0">
                <a:solidFill>
                  <a:srgbClr val="171717"/>
                </a:solidFill>
                <a:latin typeface="Hiragino Sans GB" panose="020B0300000000000000" charset="-122"/>
                <a:ea typeface="Hiragino Sans GB" panose="020B0300000000000000" charset="-122"/>
                <a:cs typeface="Hiragino Sans GB" panose="020B0300000000000000" charset="-122"/>
              </a:rPr>
              <a:t>奖金及发放日期审批后公布。展示另征授权，商业采用另谈报酬。不要求转发或拉票。</a:t>
            </a:r>
            <a:endParaRPr sz="13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23" name="Draft feedback"/>
          <p:cNvSpPr>
            <a:spLocks noGrp="1"/>
          </p:cNvSpPr>
          <p:nvPr/>
        </p:nvSpPr>
        <p:spPr>
          <a:xfrm>
            <a:off x="685800" y="2266950"/>
            <a:ext cx="10820400" cy="333375"/>
          </a:xfrm>
          <a:prstGeom prst="rect">
            <a:avLst/>
          </a:prstGeom>
          <a:noFill/>
          <a:ln w="0">
            <a:noFill/>
          </a:ln>
        </p:spPr>
        <p:txBody>
          <a:bodyPr wrap="square" lIns="0" tIns="0" rIns="0" bIns="0">
            <a:noAutofit/>
          </a:bodyPr>
          <a:lstStyle/>
          <a:p>
            <a:pPr>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提前交初稿，可以在截稿前根据建议修改。答疑时间与试用范围随入选通知发放。</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9"/>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09</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认真展示每一个题目"/>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招募与作品分享</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小题大作"/>
          <p:cNvSpPr>
            <a:spLocks noGrp="1"/>
          </p:cNvSpPr>
          <p:nvPr/>
        </p:nvSpPr>
        <p:spPr>
          <a:xfrm>
            <a:off x="685800" y="1771650"/>
            <a:ext cx="6762750" cy="666750"/>
          </a:xfrm>
          <a:prstGeom prst="rect">
            <a:avLst/>
          </a:prstGeom>
          <a:noFill/>
          <a:ln w="0">
            <a:noFill/>
          </a:ln>
        </p:spPr>
        <p:txBody>
          <a:bodyPr wrap="square" lIns="0" tIns="0" rIns="0" bIns="0">
            <a:noAutofit/>
          </a:bodyPr>
          <a:lstStyle/>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0">
                <a:solidFill>
                  <a:srgbClr val="171717"/>
                </a:solidFill>
                <a:latin typeface="Hiragino Sans GB" panose="020B0300000000000000" charset="-122"/>
                <a:ea typeface="Hiragino Sans GB" panose="020B0300000000000000" charset="-122"/>
                <a:cs typeface="Hiragino Sans GB" panose="020B0300000000000000" charset="-122"/>
              </a:rPr>
              <a:t>拟联系社团、兴趣小组、课程群与校园账号。</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0">
                <a:solidFill>
                  <a:srgbClr val="171717"/>
                </a:solidFill>
                <a:latin typeface="Hiragino Sans GB" panose="020B0300000000000000" charset="-122"/>
                <a:ea typeface="Hiragino Sans GB" panose="020B0300000000000000" charset="-122"/>
                <a:cs typeface="Hiragino Sans GB" panose="020B0300000000000000" charset="-122"/>
              </a:rPr>
              <a:t>合作尚未落实，取得负责人许可后再发布。</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5" name="你的题目，值得一份好作品。"/>
          <p:cNvSpPr>
            <a:spLocks noGrp="1"/>
          </p:cNvSpPr>
          <p:nvPr/>
        </p:nvSpPr>
        <p:spPr>
          <a:xfrm>
            <a:off x="685800" y="2724150"/>
            <a:ext cx="6762750" cy="390525"/>
          </a:xfrm>
          <a:prstGeom prst="rect">
            <a:avLst/>
          </a:prstGeom>
          <a:noFill/>
          <a:ln w="0">
            <a:noFill/>
          </a:ln>
        </p:spPr>
        <p:txBody>
          <a:bodyPr wrap="square" lIns="0" tIns="0" rIns="0" bIns="0">
            <a:noAutofit/>
          </a:bodyPr>
          <a:lstStyle/>
          <a:p>
            <a:pPr>
              <a:buNone/>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招募时，让同学看懂怎样参加</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6" name="黑色大字、白色留白、黄色展台&#10;统一系列识别，保留各题目的风格"/>
          <p:cNvSpPr>
            <a:spLocks noGrp="1"/>
          </p:cNvSpPr>
          <p:nvPr/>
        </p:nvSpPr>
        <p:spPr>
          <a:xfrm>
            <a:off x="685800" y="3143250"/>
            <a:ext cx="6762750" cy="666750"/>
          </a:xfrm>
          <a:prstGeom prst="rect">
            <a:avLst/>
          </a:prstGeom>
          <a:noFill/>
          <a:ln w="0">
            <a:noFill/>
          </a:ln>
        </p:spPr>
        <p:txBody>
          <a:bodyPr wrap="square" lIns="0" tIns="0" rIns="0" bIns="0">
            <a:noAutofit/>
          </a:bodyPr>
          <a:lstStyle/>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邀请附报名表、参赛说明和实际作品示例。</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示例同时覆盖生活分享、课程汇报和团队项目。</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7" name="生活观察    课堂汇报    社团招新&#10;学生策划    项目展"/>
          <p:cNvSpPr>
            <a:spLocks noGrp="1"/>
          </p:cNvSpPr>
          <p:nvPr/>
        </p:nvSpPr>
        <p:spPr>
          <a:xfrm>
            <a:off x="685800" y="5600700"/>
            <a:ext cx="6953250" cy="695325"/>
          </a:xfrm>
          <a:prstGeom prst="rect">
            <a:avLst/>
          </a:prstGeom>
          <a:noFill/>
          <a:ln w="0">
            <a:noFill/>
          </a:ln>
        </p:spPr>
        <p:txBody>
          <a:bodyPr wrap="square" lIns="0" tIns="0" rIns="0" bIns="0">
            <a:noAutofit/>
          </a:bodyPr>
          <a:lstStyle/>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拟整理 3 份授权案例，展示原始材料与成品。</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讲清 Cheso 和学生各做了什么，附有效体验入口。</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p:txBody>
      </p:sp>
      <p:pic>
        <p:nvPicPr>
          <p:cNvPr id="22" name="图片 21"/>
          <p:cNvPicPr>
            <a:picLocks noChangeAspect="1"/>
          </p:cNvPicPr>
          <p:nvPr/>
        </p:nvPicPr>
        <p:blipFill>
          <a:blip r:embed="rId1"/>
          <a:srcRect l="41000" t="46000" r="500" b="5800"/>
          <a:stretch>
            <a:fillRect/>
          </a:stretch>
        </p:blipFill>
        <p:spPr>
          <a:xfrm>
            <a:off x="7867650" y="2124075"/>
            <a:ext cx="3641408" cy="4000500"/>
          </a:xfrm>
          <a:prstGeom prst="rect">
            <a:avLst/>
          </a:prstGeom>
        </p:spPr>
      </p:pic>
      <p:sp>
        <p:nvSpPr>
          <p:cNvPr id="9" name="生活主题视觉示意"/>
          <p:cNvSpPr>
            <a:spLocks noGrp="1"/>
          </p:cNvSpPr>
          <p:nvPr/>
        </p:nvSpPr>
        <p:spPr>
          <a:xfrm>
            <a:off x="7848600" y="6200775"/>
            <a:ext cx="3676650" cy="333375"/>
          </a:xfrm>
          <a:prstGeom prst="rect">
            <a:avLst/>
          </a:prstGeom>
          <a:noFill/>
          <a:ln w="0">
            <a:noFill/>
          </a:ln>
        </p:spPr>
        <p:txBody>
          <a:bodyPr wrap="square" lIns="0" tIns="0" rIns="0" bIns="0">
            <a:noAutofit/>
          </a:bodyPr>
          <a:lstStyle/>
          <a:p>
            <a:pPr>
              <a:buNone/>
              <a:defRPr sz="1200" b="0">
                <a:solidFill>
                  <a:srgbClr val="6B6B6B"/>
                </a:solidFill>
                <a:latin typeface="Hiragino Sans GB" panose="020B0300000000000000" charset="-122"/>
                <a:ea typeface="Hiragino Sans GB" panose="020B0300000000000000" charset="-122"/>
                <a:cs typeface="Hiragino Sans GB" panose="020B0300000000000000" charset="-122"/>
              </a:defRPr>
            </a:pPr>
            <a:r>
              <a:rPr sz="1200" b="0">
                <a:solidFill>
                  <a:srgbClr val="6B6B6B"/>
                </a:solidFill>
                <a:latin typeface="Hiragino Sans GB" panose="020B0300000000000000" charset="-122"/>
                <a:ea typeface="Hiragino Sans GB" panose="020B0300000000000000" charset="-122"/>
                <a:cs typeface="Hiragino Sans GB" panose="020B0300000000000000" charset="-122"/>
              </a:rPr>
              <a:t>生活主题视觉示意，非产品生成案例</a:t>
            </a:r>
            <a:endParaRPr sz="1200" b="0">
              <a:solidFill>
                <a:srgbClr val="6B6B6B"/>
              </a:solidFill>
              <a:latin typeface="Hiragino Sans GB" panose="020B0300000000000000" charset="-122"/>
              <a:ea typeface="Hiragino Sans GB" panose="020B0300000000000000" charset="-122"/>
              <a:cs typeface="Hiragino Sans GB" panose="020B0300000000000000" charset="-122"/>
            </a:endParaRPr>
          </a:p>
        </p:txBody>
      </p:sp>
      <p:sp>
        <p:nvSpPr>
          <p:cNvPr id="12" name="During creation"/>
          <p:cNvSpPr>
            <a:spLocks noGrp="1"/>
          </p:cNvSpPr>
          <p:nvPr/>
        </p:nvSpPr>
        <p:spPr>
          <a:xfrm>
            <a:off x="685800" y="3952875"/>
            <a:ext cx="6762750" cy="390525"/>
          </a:xfrm>
          <a:prstGeom prst="rect">
            <a:avLst/>
          </a:prstGeom>
          <a:noFill/>
          <a:ln w="0">
            <a:noFill/>
          </a:ln>
        </p:spPr>
        <p:txBody>
          <a:bodyPr wrap="square" lIns="0" tIns="0" rIns="0" bIns="0">
            <a:noAutofit/>
          </a:bodyPr>
          <a:lstStyle/>
          <a:p>
            <a:pPr>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创作中，及时回答操作与规则问题</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3" name="During creation body"/>
          <p:cNvSpPr>
            <a:spLocks noGrp="1"/>
          </p:cNvSpPr>
          <p:nvPr/>
        </p:nvSpPr>
        <p:spPr>
          <a:xfrm>
            <a:off x="685800" y="4371975"/>
            <a:ext cx="6762750" cy="666750"/>
          </a:xfrm>
          <a:prstGeom prst="rect">
            <a:avLst/>
          </a:prstGeom>
          <a:noFill/>
          <a:ln w="0">
            <a:noFill/>
          </a:ln>
        </p:spPr>
        <p:txBody>
          <a:bodyPr wrap="square" lIns="0" tIns="0" rIns="0" bIns="0">
            <a:noAutofit/>
          </a:bodyPr>
          <a:lstStyle/>
          <a:p>
            <a:pPr>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公布集中答疑时间，更新同学最常问的问题。</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a:p>
            <a:pPr>
              <a:defRPr sz="1725" b="0">
                <a:solidFill>
                  <a:srgbClr val="171717"/>
                </a:solidFill>
                <a:latin typeface="Hiragino Sans GB" panose="020B0300000000000000" charset="-122"/>
                <a:ea typeface="Hiragino Sans GB" panose="020B0300000000000000" charset="-122"/>
                <a:cs typeface="Hiragino Sans GB" panose="020B0300000000000000" charset="-122"/>
              </a:defRPr>
            </a:pPr>
            <a:r>
              <a:rPr sz="1725" b="0">
                <a:solidFill>
                  <a:srgbClr val="171717"/>
                </a:solidFill>
                <a:latin typeface="Hiragino Sans GB" panose="020B0300000000000000" charset="-122"/>
                <a:ea typeface="Hiragino Sans GB" panose="020B0300000000000000" charset="-122"/>
                <a:cs typeface="Hiragino Sans GB" panose="020B0300000000000000" charset="-122"/>
              </a:rPr>
              <a:t>经作者同意，分享制作进展与关键修改。</a:t>
            </a:r>
            <a:endParaRPr sz="1725"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4" name="After judging"/>
          <p:cNvSpPr>
            <a:spLocks noGrp="1"/>
          </p:cNvSpPr>
          <p:nvPr/>
        </p:nvSpPr>
        <p:spPr>
          <a:xfrm>
            <a:off x="685800" y="5181600"/>
            <a:ext cx="6762750" cy="390525"/>
          </a:xfrm>
          <a:prstGeom prst="rect">
            <a:avLst/>
          </a:prstGeom>
          <a:noFill/>
          <a:ln w="0">
            <a:noFill/>
          </a:ln>
        </p:spPr>
        <p:txBody>
          <a:bodyPr wrap="square" lIns="0" tIns="0" rIns="0" bIns="0">
            <a:noAutofit/>
          </a:bodyPr>
          <a:lstStyle/>
          <a:p>
            <a:pPr>
              <a:defRPr sz="2025" b="1">
                <a:solidFill>
                  <a:srgbClr val="171717"/>
                </a:solidFill>
                <a:latin typeface="Hiragino Sans GB" panose="020B0300000000000000" charset="-122"/>
                <a:ea typeface="Hiragino Sans GB" panose="020B0300000000000000" charset="-122"/>
                <a:cs typeface="Hiragino Sans GB" panose="020B0300000000000000" charset="-122"/>
              </a:defRPr>
            </a:pPr>
            <a:r>
              <a:rPr sz="2025" b="1">
                <a:solidFill>
                  <a:srgbClr val="171717"/>
                </a:solidFill>
                <a:latin typeface="Hiragino Sans GB" panose="020B0300000000000000" charset="-122"/>
                <a:ea typeface="Hiragino Sans GB" panose="020B0300000000000000" charset="-122"/>
                <a:cs typeface="Hiragino Sans GB" panose="020B0300000000000000" charset="-122"/>
              </a:rPr>
              <a:t>结束后，让作品说明产品的用途</a:t>
            </a:r>
            <a:endParaRPr sz="202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10"/>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10</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四周活动，继续观察三十天"/>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活动怎么安排，谁来负责</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启动前确认合作、预算和账号，并完成 3 个样本的生成、修改与导出"/>
          <p:cNvSpPr>
            <a:spLocks noGrp="1"/>
          </p:cNvSpPr>
          <p:nvPr/>
        </p:nvSpPr>
        <p:spPr>
          <a:xfrm>
            <a:off x="685800" y="1743075"/>
            <a:ext cx="10820400" cy="638175"/>
          </a:xfrm>
          <a:prstGeom prst="rect">
            <a:avLst/>
          </a:prstGeom>
          <a:noFill/>
          <a:ln w="0">
            <a:noFill/>
          </a:ln>
        </p:spPr>
        <p:txBody>
          <a:bodyPr wrap="square" lIns="0" tIns="0" rIns="0" bIns="0">
            <a:noAutofit/>
          </a:bodyPr>
          <a:lstStyle/>
          <a:p>
            <a:pPr>
              <a:buNone/>
              <a:defRPr sz="1950" b="0">
                <a:solidFill>
                  <a:srgbClr val="171717"/>
                </a:solidFill>
                <a:latin typeface="Hiragino Sans GB" panose="020B0300000000000000" charset="-122"/>
                <a:ea typeface="Hiragino Sans GB" panose="020B0300000000000000" charset="-122"/>
                <a:cs typeface="Hiragino Sans GB" panose="020B0300000000000000" charset="-122"/>
              </a:defRPr>
            </a:pPr>
            <a:r>
              <a:rPr sz="1950" b="0">
                <a:solidFill>
                  <a:srgbClr val="171717"/>
                </a:solidFill>
                <a:latin typeface="Hiragino Sans GB" panose="020B0300000000000000" charset="-122"/>
                <a:ea typeface="Hiragino Sans GB" panose="020B0300000000000000" charset="-122"/>
                <a:cs typeface="Hiragino Sans GB" panose="020B0300000000000000" charset="-122"/>
              </a:rPr>
              <a:t>四周比赛与三十天回访为建议排期。正式日期、负责人及试用期限，发布前确认。</a:t>
            </a:r>
            <a:endParaRPr sz="1950" b="0">
              <a:solidFill>
                <a:srgbClr val="171717"/>
              </a:solidFill>
              <a:latin typeface="Hiragino Sans GB" panose="020B0300000000000000" charset="-122"/>
              <a:ea typeface="Hiragino Sans GB" panose="020B0300000000000000" charset="-122"/>
              <a:cs typeface="Hiragino Sans GB" panose="020B0300000000000000" charset="-122"/>
            </a:endParaRPr>
          </a:p>
        </p:txBody>
      </p:sp>
      <p:graphicFrame>
        <p:nvGraphicFramePr>
          <p:cNvPr id="13" name="表格 12"/>
          <p:cNvGraphicFramePr/>
          <p:nvPr/>
        </p:nvGraphicFramePr>
        <p:xfrm>
          <a:off x="685800" y="2657475"/>
          <a:ext cx="10820400" cy="3267075"/>
        </p:xfrm>
        <a:graphic>
          <a:graphicData uri="http://schemas.openxmlformats.org/drawingml/2006/table">
            <a:tbl>
              <a:tblPr/>
              <a:tblGrid>
                <a:gridCol w="1838325"/>
                <a:gridCol w="6086475"/>
                <a:gridCol w="2895600"/>
              </a:tblGrid>
              <a:tr h="438150">
                <a:tc>
                  <a:txBody>
                    <a:bodyPr>
                      <a:spAutoFit/>
                    </a:bodyPr>
                    <a:lstStyle/>
                    <a:p>
                      <a:pPr algn="l">
                        <a:buNone/>
                      </a:pPr>
                      <a:r>
                        <a:rPr sz="1650" b="1">
                          <a:solidFill>
                            <a:srgbClr val="171717"/>
                          </a:solidFill>
                          <a:latin typeface="Hiragino Sans GB" panose="020B0300000000000000" charset="-122"/>
                          <a:ea typeface="Hiragino Sans GB" panose="020B0300000000000000" charset="-122"/>
                          <a:cs typeface="Hiragino Sans GB" panose="020B0300000000000000" charset="-122"/>
                        </a:rPr>
                        <a:t>时间</a:t>
                      </a:r>
                      <a:endParaRPr sz="165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l">
                        <a:buNone/>
                      </a:pPr>
                      <a:r>
                        <a:rPr sz="1650" b="1">
                          <a:solidFill>
                            <a:srgbClr val="171717"/>
                          </a:solidFill>
                          <a:latin typeface="Hiragino Sans GB" panose="020B0300000000000000" charset="-122"/>
                          <a:ea typeface="Hiragino Sans GB" panose="020B0300000000000000" charset="-122"/>
                          <a:cs typeface="Hiragino Sans GB" panose="020B0300000000000000" charset="-122"/>
                        </a:rPr>
                        <a:t>完成什么</a:t>
                      </a:r>
                      <a:endParaRPr sz="165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l">
                        <a:buNone/>
                      </a:pPr>
                      <a:r>
                        <a:rPr sz="1650" b="1">
                          <a:solidFill>
                            <a:srgbClr val="171717"/>
                          </a:solidFill>
                          <a:latin typeface="Hiragino Sans GB" panose="020B0300000000000000" charset="-122"/>
                          <a:ea typeface="Hiragino Sans GB" panose="020B0300000000000000" charset="-122"/>
                          <a:cs typeface="Hiragino Sans GB" panose="020B0300000000000000" charset="-122"/>
                        </a:rPr>
                        <a:t>主要负责人</a:t>
                      </a:r>
                      <a:endParaRPr sz="165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r>
              <a:tr h="552450">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发布前</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账号实测通过，确认预算、人员和报名入口</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项目统筹、产品支持</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52450">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第 1 周</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回复入选结果，逐组确认账号能够使用</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校园运营</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52450">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第 2 至 3 周</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两次答疑、每组一次点评，检查最终投稿</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产品支持、内容负责人</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552450">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第 4 周</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评选及异议复核，发奖并发布获授权案例</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内容负责人、项目统筹</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619125">
                <a:tc>
                  <a:txBody>
                    <a:bodyPr>
                      <a:spAutoFit/>
                    </a:bodyPr>
                    <a:lstStyle/>
                    <a:p>
                      <a:pPr algn="l">
                        <a:buNone/>
                      </a:pPr>
                      <a:r>
                        <a:rPr sz="1500" b="0">
                          <a:solidFill>
                            <a:srgbClr val="171717"/>
                          </a:solidFill>
                          <a:latin typeface="Hiragino Sans GB" panose="020B0300000000000000" charset="-122"/>
                          <a:ea typeface="Hiragino Sans GB" panose="020B0300000000000000" charset="-122"/>
                          <a:cs typeface="Hiragino Sans GB" panose="020B0300000000000000" charset="-122"/>
                        </a:rPr>
                        <a:t>结束后</a:t>
                      </a:r>
                      <a:endParaRPr sz="1500" b="0">
                        <a:solidFill>
                          <a:srgbClr val="171717"/>
                        </a:solidFill>
                        <a:latin typeface="Hiragino Sans GB" panose="020B0300000000000000" charset="-122"/>
                        <a:ea typeface="Hiragino Sans GB" panose="020B0300000000000000" charset="-122"/>
                        <a:cs typeface="Hiragino Sans GB" panose="020B0300000000000000" charset="-122"/>
                      </a:endParaRPr>
                    </a:p>
                    <a:p>
                      <a:pPr algn="l">
                        <a:buNone/>
                      </a:pPr>
                      <a:r>
                        <a:rPr sz="1500" b="0">
                          <a:solidFill>
                            <a:srgbClr val="171717"/>
                          </a:solidFill>
                          <a:latin typeface="Hiragino Sans GB" panose="020B0300000000000000" charset="-122"/>
                          <a:ea typeface="Hiragino Sans GB" panose="020B0300000000000000" charset="-122"/>
                          <a:cs typeface="Hiragino Sans GB" panose="020B0300000000000000" charset="-122"/>
                        </a:rPr>
                        <a:t>7 天、30 天</a:t>
                      </a:r>
                      <a:endParaRPr sz="15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57150" marB="57150"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回访新需求与新作品，登记实际花费</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l">
                        <a:buNone/>
                      </a:pPr>
                      <a:r>
                        <a:rPr sz="1650" b="0">
                          <a:solidFill>
                            <a:srgbClr val="171717"/>
                          </a:solidFill>
                          <a:latin typeface="Hiragino Sans GB" panose="020B0300000000000000" charset="-122"/>
                          <a:ea typeface="Hiragino Sans GB" panose="020B0300000000000000" charset="-122"/>
                          <a:cs typeface="Hiragino Sans GB" panose="020B0300000000000000" charset="-122"/>
                        </a:rPr>
                        <a:t>校园运营、项目统筹</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bl>
          </a:graphicData>
        </a:graphic>
      </p:graphicFrame>
      <p:sp>
        <p:nvSpPr>
          <p:cNvPr id="6" name="账号权限和额度须覆盖至第 58 天。职责可兼任，但每项工作要有明"/>
          <p:cNvSpPr>
            <a:spLocks noGrp="1"/>
          </p:cNvSpPr>
          <p:nvPr/>
        </p:nvSpPr>
        <p:spPr>
          <a:xfrm>
            <a:off x="685800" y="6200775"/>
            <a:ext cx="10820400" cy="419100"/>
          </a:xfrm>
          <a:prstGeom prst="rect">
            <a:avLst/>
          </a:prstGeom>
          <a:noFill/>
          <a:ln w="0">
            <a:noFill/>
          </a:ln>
        </p:spPr>
        <p:txBody>
          <a:bodyPr wrap="square" lIns="0" tIns="0" rIns="0" bIns="0">
            <a:noAutofit/>
          </a:bodyPr>
          <a:lstStyle/>
          <a:p>
            <a:pPr>
              <a:buNone/>
              <a:defRPr sz="1350" b="0">
                <a:solidFill>
                  <a:srgbClr val="171717"/>
                </a:solidFill>
                <a:latin typeface="Hiragino Sans GB" panose="020B0300000000000000" charset="-122"/>
                <a:ea typeface="Hiragino Sans GB" panose="020B0300000000000000" charset="-122"/>
                <a:cs typeface="Hiragino Sans GB" panose="020B0300000000000000" charset="-122"/>
              </a:defRPr>
            </a:pPr>
            <a:r>
              <a:rPr sz="1350" b="0">
                <a:solidFill>
                  <a:srgbClr val="171717"/>
                </a:solidFill>
                <a:latin typeface="Hiragino Sans GB" panose="020B0300000000000000" charset="-122"/>
                <a:ea typeface="Hiragino Sans GB" panose="020B0300000000000000" charset="-122"/>
                <a:cs typeface="Hiragino Sans GB" panose="020B0300000000000000" charset="-122"/>
              </a:rPr>
              <a:t>校园运营统一收问题。账号和生成故障交产品支持，评选及奖金争议交项目统筹。人员均待确认。</a:t>
            </a:r>
            <a:endParaRPr sz="13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1717"/>
        </a:solidFill>
        <a:effectLst/>
      </p:bgPr>
    </p:bg>
    <p:spTree>
      <p:nvGrpSpPr>
        <p:cNvPr id="1" name=""/>
        <p:cNvGrpSpPr/>
        <p:nvPr/>
      </p:nvGrpSpPr>
      <p:grpSpPr/>
      <p:sp>
        <p:nvSpPr>
          <p:cNvPr id="9"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FFFFFF"/>
                </a:solidFill>
                <a:latin typeface="Helvetica Neue" panose="02000503000000020004"/>
                <a:ea typeface="Helvetica Neue" panose="02000503000000020004"/>
                <a:cs typeface="Helvetica Neue" panose="02000503000000020004"/>
              </a:defRPr>
            </a:pPr>
            <a:r>
              <a:rPr sz="1275" b="1">
                <a:solidFill>
                  <a:srgbClr val="FFFFFF"/>
                </a:solidFill>
                <a:latin typeface="Helvetica Neue" panose="02000503000000020004"/>
                <a:ea typeface="Helvetica Neue" panose="02000503000000020004"/>
                <a:cs typeface="Helvetica Neue" panose="02000503000000020004"/>
              </a:rPr>
              <a:t>CHESO CAMPUS LAB</a:t>
            </a:r>
            <a:endParaRPr sz="1275" b="1">
              <a:solidFill>
                <a:srgbClr val="FFFFFF"/>
              </a:solidFill>
              <a:latin typeface="Helvetica Neue" panose="02000503000000020004"/>
              <a:ea typeface="Helvetica Neue" panose="02000503000000020004"/>
              <a:cs typeface="Helvetica Neue" panose="02000503000000020004"/>
            </a:endParaRPr>
          </a:p>
        </p:txBody>
      </p:sp>
      <p:sp>
        <p:nvSpPr>
          <p:cNvPr id="2" name="11"/>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FFFFFF"/>
                </a:solidFill>
                <a:latin typeface="Helvetica Neue" panose="02000503000000020004"/>
                <a:ea typeface="Helvetica Neue" panose="02000503000000020004"/>
                <a:cs typeface="Helvetica Neue" panose="02000503000000020004"/>
              </a:defRPr>
            </a:pPr>
            <a:r>
              <a:rPr sz="1575" b="0">
                <a:solidFill>
                  <a:srgbClr val="FFFFFF"/>
                </a:solidFill>
                <a:latin typeface="Helvetica Neue" panose="02000503000000020004"/>
                <a:ea typeface="Helvetica Neue" panose="02000503000000020004"/>
                <a:cs typeface="Helvetica Neue" panose="02000503000000020004"/>
              </a:rPr>
              <a:t>11</a:t>
            </a:r>
            <a:endParaRPr sz="1575" b="0">
              <a:solidFill>
                <a:srgbClr val="FFFFFF"/>
              </a:solidFill>
              <a:latin typeface="Helvetica Neue" panose="02000503000000020004"/>
              <a:ea typeface="Helvetica Neue" panose="02000503000000020004"/>
              <a:cs typeface="Helvetica Neue" panose="02000503000000020004"/>
            </a:endParaRPr>
          </a:p>
        </p:txBody>
      </p:sp>
      <p:sp>
        <p:nvSpPr>
          <p:cNvPr id="3" name="试点现金预算"/>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FFFFFF"/>
                </a:solidFill>
                <a:latin typeface="Hiragino Sans GB" panose="020B0300000000000000" charset="-122"/>
                <a:ea typeface="Hiragino Sans GB" panose="020B0300000000000000" charset="-122"/>
                <a:cs typeface="Hiragino Sans GB" panose="020B0300000000000000" charset="-122"/>
              </a:defRPr>
            </a:pPr>
            <a:r>
              <a:rPr sz="3900" b="1">
                <a:solidFill>
                  <a:srgbClr val="FFFFFF"/>
                </a:solidFill>
                <a:latin typeface="Hiragino Sans GB" panose="020B0300000000000000" charset="-122"/>
                <a:ea typeface="Hiragino Sans GB" panose="020B0300000000000000" charset="-122"/>
                <a:cs typeface="Hiragino Sans GB" panose="020B0300000000000000" charset="-122"/>
              </a:rPr>
              <a:t>首轮准备花多少钱</a:t>
            </a:r>
            <a:endParaRPr sz="3900"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4" name="10,000"/>
          <p:cNvSpPr>
            <a:spLocks noGrp="1"/>
          </p:cNvSpPr>
          <p:nvPr/>
        </p:nvSpPr>
        <p:spPr>
          <a:xfrm>
            <a:off x="581025" y="2247900"/>
            <a:ext cx="5286375" cy="1295400"/>
          </a:xfrm>
          <a:prstGeom prst="rect">
            <a:avLst/>
          </a:prstGeom>
          <a:noFill/>
          <a:ln w="0">
            <a:noFill/>
          </a:ln>
        </p:spPr>
        <p:txBody>
          <a:bodyPr wrap="square" lIns="0" tIns="0" rIns="0" bIns="0">
            <a:noAutofit/>
          </a:bodyPr>
          <a:lstStyle/>
          <a:p>
            <a:pPr>
              <a:buNone/>
              <a:defRPr sz="7950" b="1">
                <a:solidFill>
                  <a:srgbClr val="FFDA2A"/>
                </a:solidFill>
                <a:latin typeface="Helvetica Neue" panose="02000503000000020004"/>
                <a:ea typeface="Helvetica Neue" panose="02000503000000020004"/>
                <a:cs typeface="Helvetica Neue" panose="02000503000000020004"/>
              </a:defRPr>
            </a:pPr>
            <a:r>
              <a:rPr sz="7950" b="1">
                <a:solidFill>
                  <a:srgbClr val="FFDA2A"/>
                </a:solidFill>
                <a:latin typeface="Helvetica Neue" panose="02000503000000020004"/>
                <a:ea typeface="Helvetica Neue" panose="02000503000000020004"/>
                <a:cs typeface="Helvetica Neue" panose="02000503000000020004"/>
              </a:rPr>
              <a:t>10,000</a:t>
            </a:r>
            <a:endParaRPr sz="7950" b="1">
              <a:solidFill>
                <a:srgbClr val="FFDA2A"/>
              </a:solidFill>
              <a:latin typeface="Helvetica Neue" panose="02000503000000020004"/>
              <a:ea typeface="Helvetica Neue" panose="02000503000000020004"/>
              <a:cs typeface="Helvetica Neue" panose="02000503000000020004"/>
            </a:endParaRPr>
          </a:p>
        </p:txBody>
      </p:sp>
      <p:sp>
        <p:nvSpPr>
          <p:cNvPr id="5" name="元，预算分配建议"/>
          <p:cNvSpPr>
            <a:spLocks noGrp="1"/>
          </p:cNvSpPr>
          <p:nvPr/>
        </p:nvSpPr>
        <p:spPr>
          <a:xfrm>
            <a:off x="685800" y="3771900"/>
            <a:ext cx="4867275" cy="552450"/>
          </a:xfrm>
          <a:prstGeom prst="rect">
            <a:avLst/>
          </a:prstGeom>
          <a:noFill/>
          <a:ln w="0">
            <a:noFill/>
          </a:ln>
        </p:spPr>
        <p:txBody>
          <a:bodyPr wrap="square" lIns="0" tIns="0" rIns="0" bIns="0">
            <a:noAutofit/>
          </a:bodyPr>
          <a:lstStyle/>
          <a:p>
            <a:pPr>
              <a:buNone/>
              <a:defRPr sz="2400" b="1">
                <a:solidFill>
                  <a:srgbClr val="FFFFFF"/>
                </a:solidFill>
                <a:latin typeface="Hiragino Sans GB" panose="020B0300000000000000" charset="-122"/>
                <a:ea typeface="Hiragino Sans GB" panose="020B0300000000000000" charset="-122"/>
                <a:cs typeface="Hiragino Sans GB" panose="020B0300000000000000" charset="-122"/>
              </a:defRPr>
            </a:pPr>
            <a:r>
              <a:rPr sz="2400" b="1">
                <a:solidFill>
                  <a:srgbClr val="FFFFFF"/>
                </a:solidFill>
                <a:latin typeface="Hiragino Sans GB" panose="020B0300000000000000" charset="-122"/>
                <a:ea typeface="Hiragino Sans GB" panose="020B0300000000000000" charset="-122"/>
                <a:cs typeface="Hiragino Sans GB" panose="020B0300000000000000" charset="-122"/>
              </a:rPr>
              <a:t>元，现金预算建议</a:t>
            </a:r>
            <a:endParaRPr sz="2400" b="1">
              <a:solidFill>
                <a:srgbClr val="FFFFFF"/>
              </a:solidFill>
              <a:latin typeface="Hiragino Sans GB" panose="020B0300000000000000" charset="-122"/>
              <a:ea typeface="Hiragino Sans GB" panose="020B0300000000000000" charset="-122"/>
              <a:cs typeface="Hiragino Sans GB" panose="020B0300000000000000" charset="-122"/>
            </a:endParaRPr>
          </a:p>
        </p:txBody>
      </p:sp>
      <p:sp>
        <p:nvSpPr>
          <p:cNvPr id="6" name="尚未批准&#10;不代表供应商报价"/>
          <p:cNvSpPr>
            <a:spLocks noGrp="1"/>
          </p:cNvSpPr>
          <p:nvPr/>
        </p:nvSpPr>
        <p:spPr>
          <a:xfrm>
            <a:off x="685800" y="4552950"/>
            <a:ext cx="5000625" cy="1143000"/>
          </a:xfrm>
          <a:prstGeom prst="rect">
            <a:avLst/>
          </a:prstGeom>
          <a:noFill/>
          <a:ln w="0">
            <a:noFill/>
          </a:ln>
        </p:spPr>
        <p:txBody>
          <a:bodyPr wrap="square" lIns="0" tIns="0" rIns="0" bIns="0">
            <a:noAutofit/>
          </a:bodyPr>
          <a:lstStyle/>
          <a:p>
            <a:pPr>
              <a:buNone/>
              <a:defRPr sz="1725" b="0">
                <a:solidFill>
                  <a:srgbClr val="CFCFCF"/>
                </a:solidFill>
                <a:latin typeface="Hiragino Sans GB" panose="020B0300000000000000" charset="-122"/>
                <a:ea typeface="Hiragino Sans GB" panose="020B0300000000000000" charset="-122"/>
                <a:cs typeface="Hiragino Sans GB" panose="020B0300000000000000" charset="-122"/>
              </a:defRPr>
            </a:pPr>
            <a:r>
              <a:rPr sz="1725" b="0">
                <a:solidFill>
                  <a:srgbClr val="CFCFCF"/>
                </a:solidFill>
                <a:latin typeface="Hiragino Sans GB" panose="020B0300000000000000" charset="-122"/>
                <a:ea typeface="Hiragino Sans GB" panose="020B0300000000000000" charset="-122"/>
                <a:cs typeface="Hiragino Sans GB" panose="020B0300000000000000" charset="-122"/>
              </a:rPr>
              <a:t>人力按 20 组估算</a:t>
            </a:r>
            <a:endParaRPr sz="1725"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725" b="0">
                <a:solidFill>
                  <a:srgbClr val="CFCFCF"/>
                </a:solidFill>
                <a:latin typeface="Hiragino Sans GB" panose="020B0300000000000000" charset="-122"/>
                <a:ea typeface="Hiragino Sans GB" panose="020B0300000000000000" charset="-122"/>
                <a:cs typeface="Hiragino Sans GB" panose="020B0300000000000000" charset="-122"/>
              </a:defRPr>
            </a:pPr>
            <a:r>
              <a:rPr sz="1725" b="0">
                <a:solidFill>
                  <a:srgbClr val="CFCFCF"/>
                </a:solidFill>
                <a:latin typeface="Hiragino Sans GB" panose="020B0300000000000000" charset="-122"/>
                <a:ea typeface="Hiragino Sans GB" panose="020B0300000000000000" charset="-122"/>
                <a:cs typeface="Hiragino Sans GB" panose="020B0300000000000000" charset="-122"/>
              </a:rPr>
              <a:t>点评、答疑和回访共 20 小时 20 分钟</a:t>
            </a:r>
            <a:endParaRPr sz="1725"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725" b="0">
                <a:solidFill>
                  <a:srgbClr val="CFCFCF"/>
                </a:solidFill>
                <a:latin typeface="Hiragino Sans GB" panose="020B0300000000000000" charset="-122"/>
                <a:ea typeface="Hiragino Sans GB" panose="020B0300000000000000" charset="-122"/>
                <a:cs typeface="Hiragino Sans GB" panose="020B0300000000000000" charset="-122"/>
              </a:defRPr>
            </a:pPr>
            <a:r>
              <a:rPr sz="1725" b="0">
                <a:solidFill>
                  <a:srgbClr val="CFCFCF"/>
                </a:solidFill>
                <a:latin typeface="Hiragino Sans GB" panose="020B0300000000000000" charset="-122"/>
                <a:ea typeface="Hiragino Sans GB" panose="020B0300000000000000" charset="-122"/>
                <a:cs typeface="Hiragino Sans GB" panose="020B0300000000000000" charset="-122"/>
              </a:rPr>
              <a:t>招募、评审和案例制作另留时间</a:t>
            </a:r>
            <a:endParaRPr sz="1725" b="0">
              <a:solidFill>
                <a:srgbClr val="CFCFCF"/>
              </a:solidFill>
              <a:latin typeface="Hiragino Sans GB" panose="020B0300000000000000" charset="-122"/>
              <a:ea typeface="Hiragino Sans GB" panose="020B0300000000000000" charset="-122"/>
              <a:cs typeface="Hiragino Sans GB" panose="020B0300000000000000" charset="-122"/>
            </a:endParaRPr>
          </a:p>
        </p:txBody>
      </p:sp>
      <p:graphicFrame>
        <p:nvGraphicFramePr>
          <p:cNvPr id="17" name="表格 16"/>
          <p:cNvGraphicFramePr/>
          <p:nvPr/>
        </p:nvGraphicFramePr>
        <p:xfrm>
          <a:off x="6391275" y="1895475"/>
          <a:ext cx="5114925" cy="3695700"/>
        </p:xfrm>
        <a:graphic>
          <a:graphicData uri="http://schemas.openxmlformats.org/drawingml/2006/table">
            <a:tbl>
              <a:tblPr/>
              <a:tblGrid>
                <a:gridCol w="3314700"/>
                <a:gridCol w="1800225"/>
              </a:tblGrid>
              <a:tr h="428625">
                <a:tc>
                  <a:txBody>
                    <a:bodyPr>
                      <a:spAutoFit/>
                    </a:bodyPr>
                    <a:lstStyle/>
                    <a:p>
                      <a:pPr algn="l">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费用项目</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r">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金额 / 元</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r>
              <a:tr h="466725">
                <a:tc>
                  <a:txBody>
                    <a:bodyPr>
                      <a:spAutoFit/>
                    </a:bodyPr>
                    <a:lstStyle/>
                    <a:p>
                      <a:pPr algn="l">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3 项学生奖励</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c>
                  <a:txBody>
                    <a:bodyPr>
                      <a:spAutoFit/>
                    </a:bodyPr>
                    <a:lstStyle/>
                    <a:p>
                      <a:pPr algn="r">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3000</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r>
              <a:tr h="466725">
                <a:tc>
                  <a:txBody>
                    <a:bodyPr>
                      <a:spAutoFit/>
                    </a:bodyPr>
                    <a:lstStyle/>
                    <a:p>
                      <a:pPr algn="l">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3 份案例整理与制作</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c>
                  <a:txBody>
                    <a:bodyPr>
                      <a:spAutoFit/>
                    </a:bodyPr>
                    <a:lstStyle/>
                    <a:p>
                      <a:pPr algn="r">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2000</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r>
              <a:tr h="466725">
                <a:tc>
                  <a:txBody>
                    <a:bodyPr>
                      <a:spAutoFit/>
                    </a:bodyPr>
                    <a:lstStyle/>
                    <a:p>
                      <a:pPr algn="l">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外部点评与辅导</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c>
                  <a:txBody>
                    <a:bodyPr>
                      <a:spAutoFit/>
                    </a:bodyPr>
                    <a:lstStyle/>
                    <a:p>
                      <a:pPr algn="r">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1500</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r>
              <a:tr h="466725">
                <a:tc>
                  <a:txBody>
                    <a:bodyPr>
                      <a:spAutoFit/>
                    </a:bodyPr>
                    <a:lstStyle/>
                    <a:p>
                      <a:pPr algn="l">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场地设备预留</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c>
                  <a:txBody>
                    <a:bodyPr>
                      <a:spAutoFit/>
                    </a:bodyPr>
                    <a:lstStyle/>
                    <a:p>
                      <a:pPr algn="r">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1500</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r>
              <a:tr h="466725">
                <a:tc>
                  <a:txBody>
                    <a:bodyPr>
                      <a:spAutoFit/>
                    </a:bodyPr>
                    <a:lstStyle/>
                    <a:p>
                      <a:pPr algn="l">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印刷</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c>
                  <a:txBody>
                    <a:bodyPr>
                      <a:spAutoFit/>
                    </a:bodyPr>
                    <a:lstStyle/>
                    <a:p>
                      <a:pPr algn="r">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500</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r>
              <a:tr h="466725">
                <a:tc>
                  <a:txBody>
                    <a:bodyPr>
                      <a:spAutoFit/>
                    </a:bodyPr>
                    <a:lstStyle/>
                    <a:p>
                      <a:pPr algn="l">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应急预留</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c>
                  <a:txBody>
                    <a:bodyPr>
                      <a:spAutoFit/>
                    </a:bodyPr>
                    <a:lstStyle/>
                    <a:p>
                      <a:pPr algn="r">
                        <a:buNone/>
                      </a:pPr>
                      <a:r>
                        <a:rPr sz="1800" b="0">
                          <a:solidFill>
                            <a:srgbClr val="FFFFFF"/>
                          </a:solidFill>
                          <a:latin typeface="Hiragino Sans GB" panose="020B0300000000000000" charset="-122"/>
                          <a:ea typeface="Hiragino Sans GB" panose="020B0300000000000000" charset="-122"/>
                          <a:cs typeface="Hiragino Sans GB" panose="020B0300000000000000" charset="-122"/>
                        </a:rPr>
                        <a:t>1500</a:t>
                      </a:r>
                      <a:endParaRPr sz="1800" b="0">
                        <a:solidFill>
                          <a:srgbClr val="FFFFFF"/>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171717"/>
                    </a:solidFill>
                  </a:tcPr>
                </a:tc>
              </a:tr>
              <a:tr h="466725">
                <a:tc>
                  <a:txBody>
                    <a:bodyPr>
                      <a:spAutoFit/>
                    </a:bodyPr>
                    <a:lstStyle/>
                    <a:p>
                      <a:pPr algn="l">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合计</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r">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10000</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r>
            </a:tbl>
          </a:graphicData>
        </a:graphic>
      </p:graphicFrame>
      <p:sp>
        <p:nvSpPr>
          <p:cNvPr id="8" name="内部工时、产品使用成本及作品商业采用费用另计，不作收入或投资回报"/>
          <p:cNvSpPr>
            <a:spLocks noGrp="1"/>
          </p:cNvSpPr>
          <p:nvPr/>
        </p:nvSpPr>
        <p:spPr>
          <a:xfrm>
            <a:off x="685800" y="6096000"/>
            <a:ext cx="10820400" cy="590550"/>
          </a:xfrm>
          <a:prstGeom prst="rect">
            <a:avLst/>
          </a:prstGeom>
          <a:noFill/>
          <a:ln w="0">
            <a:noFill/>
          </a:ln>
        </p:spPr>
        <p:txBody>
          <a:bodyPr wrap="square" lIns="0" tIns="0" rIns="0" bIns="0">
            <a:noAutofit/>
          </a:bodyPr>
          <a:lstStyle/>
          <a:p>
            <a:pPr>
              <a:buNone/>
              <a:defRPr sz="1350" b="0">
                <a:solidFill>
                  <a:srgbClr val="CFCFCF"/>
                </a:solidFill>
                <a:latin typeface="Hiragino Sans GB" panose="020B0300000000000000" charset="-122"/>
                <a:ea typeface="Hiragino Sans GB" panose="020B0300000000000000" charset="-122"/>
                <a:cs typeface="Hiragino Sans GB" panose="020B0300000000000000" charset="-122"/>
              </a:defRPr>
            </a:pPr>
            <a:r>
              <a:rPr sz="1350" b="0">
                <a:solidFill>
                  <a:srgbClr val="CFCFCF"/>
                </a:solidFill>
                <a:latin typeface="Hiragino Sans GB" panose="020B0300000000000000" charset="-122"/>
                <a:ea typeface="Hiragino Sans GB" panose="020B0300000000000000" charset="-122"/>
                <a:cs typeface="Hiragino Sans GB" panose="020B0300000000000000" charset="-122"/>
              </a:rPr>
              <a:t>现金为待审批估算。内部工时、产品消耗与商业采用费用另计。产品成本含失败重试与修改。</a:t>
            </a:r>
            <a:endParaRPr sz="1350" b="0">
              <a:solidFill>
                <a:srgbClr val="CFCFCF"/>
              </a:solidFill>
              <a:latin typeface="Hiragino Sans GB" panose="020B0300000000000000" charset="-122"/>
              <a:ea typeface="Hiragino Sans GB" panose="020B0300000000000000" charset="-122"/>
              <a:cs typeface="Hiragino Sans GB" panose="020B0300000000000000" charset="-122"/>
            </a:endParaRPr>
          </a:p>
          <a:p>
            <a:pPr>
              <a:buNone/>
              <a:defRPr sz="1350" b="0">
                <a:solidFill>
                  <a:srgbClr val="CFCFCF"/>
                </a:solidFill>
                <a:latin typeface="Hiragino Sans GB" panose="020B0300000000000000" charset="-122"/>
                <a:ea typeface="Hiragino Sans GB" panose="020B0300000000000000" charset="-122"/>
                <a:cs typeface="Hiragino Sans GB" panose="020B0300000000000000" charset="-122"/>
              </a:defRPr>
            </a:pPr>
            <a:r>
              <a:rPr sz="1350" b="0">
                <a:solidFill>
                  <a:srgbClr val="CFCFCF"/>
                </a:solidFill>
                <a:latin typeface="Hiragino Sans GB" panose="020B0300000000000000" charset="-122"/>
                <a:ea typeface="Hiragino Sans GB" panose="020B0300000000000000" charset="-122"/>
                <a:cs typeface="Hiragino Sans GB" panose="020B0300000000000000" charset="-122"/>
              </a:rPr>
              <a:t>启动前确认总成本上限，超出后暂停新增名额或支出。</a:t>
            </a:r>
            <a:endParaRPr sz="1350" b="0">
              <a:solidFill>
                <a:srgbClr val="CFCFCF"/>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07"/>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08</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惊艳，需要作品本身支撑"/>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作品怎样评选</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看得进去，听得明白，也确实用得上。"/>
          <p:cNvSpPr>
            <a:spLocks noGrp="1"/>
          </p:cNvSpPr>
          <p:nvPr/>
        </p:nvSpPr>
        <p:spPr>
          <a:xfrm>
            <a:off x="685800" y="1752600"/>
            <a:ext cx="10820400" cy="457200"/>
          </a:xfrm>
          <a:prstGeom prst="rect">
            <a:avLst/>
          </a:prstGeom>
          <a:noFill/>
          <a:ln w="0">
            <a:noFill/>
          </a:ln>
        </p:spPr>
        <p:txBody>
          <a:bodyPr wrap="square" lIns="0" tIns="0" rIns="0" bIns="0">
            <a:noAutofit/>
          </a:bodyPr>
          <a:lstStyle/>
          <a:p>
            <a:pPr>
              <a:buNone/>
              <a:defRPr sz="2025" b="0">
                <a:solidFill>
                  <a:srgbClr val="171717"/>
                </a:solidFill>
                <a:latin typeface="Hiragino Sans GB" panose="020B0300000000000000" charset="-122"/>
                <a:ea typeface="Hiragino Sans GB" panose="020B0300000000000000" charset="-122"/>
                <a:cs typeface="Hiragino Sans GB" panose="020B0300000000000000" charset="-122"/>
              </a:defRPr>
            </a:pPr>
            <a:r>
              <a:rPr sz="2025" b="0">
                <a:solidFill>
                  <a:srgbClr val="171717"/>
                </a:solidFill>
                <a:latin typeface="Hiragino Sans GB" panose="020B0300000000000000" charset="-122"/>
                <a:ea typeface="Hiragino Sans GB" panose="020B0300000000000000" charset="-122"/>
                <a:cs typeface="Hiragino Sans GB" panose="020B0300000000000000" charset="-122"/>
              </a:rPr>
              <a:t>参评先检查内容和素材授权。成品需主题完整、页面清楚，能正常打开或展示。</a:t>
            </a:r>
            <a:endParaRPr sz="2025" b="0">
              <a:solidFill>
                <a:srgbClr val="171717"/>
              </a:solidFill>
              <a:latin typeface="Hiragino Sans GB" panose="020B0300000000000000" charset="-122"/>
              <a:ea typeface="Hiragino Sans GB" panose="020B0300000000000000" charset="-122"/>
              <a:cs typeface="Hiragino Sans GB" panose="020B0300000000000000" charset="-122"/>
            </a:endParaRPr>
          </a:p>
        </p:txBody>
      </p:sp>
      <p:graphicFrame>
        <p:nvGraphicFramePr>
          <p:cNvPr id="13" name="表格 12"/>
          <p:cNvGraphicFramePr/>
          <p:nvPr/>
        </p:nvGraphicFramePr>
        <p:xfrm>
          <a:off x="685800" y="2647950"/>
          <a:ext cx="10820400" cy="2990850"/>
        </p:xfrm>
        <a:graphic>
          <a:graphicData uri="http://schemas.openxmlformats.org/drawingml/2006/table">
            <a:tbl>
              <a:tblPr/>
              <a:tblGrid>
                <a:gridCol w="2524125"/>
                <a:gridCol w="1238250"/>
                <a:gridCol w="7058025"/>
              </a:tblGrid>
              <a:tr h="476250">
                <a:tc>
                  <a:txBody>
                    <a:bodyPr>
                      <a:spAutoFit/>
                    </a:bodyPr>
                    <a:lstStyle/>
                    <a:p>
                      <a:pPr algn="ctr">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评分项目</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ctr">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分值</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c>
                  <a:txBody>
                    <a:bodyPr>
                      <a:spAutoFit/>
                    </a:bodyPr>
                    <a:lstStyle/>
                    <a:p>
                      <a:pPr algn="ctr">
                        <a:buNone/>
                      </a:pPr>
                      <a:r>
                        <a:rPr sz="1800" b="1">
                          <a:solidFill>
                            <a:srgbClr val="171717"/>
                          </a:solidFill>
                          <a:latin typeface="Hiragino Sans GB" panose="020B0300000000000000" charset="-122"/>
                          <a:ea typeface="Hiragino Sans GB" panose="020B0300000000000000" charset="-122"/>
                          <a:cs typeface="Hiragino Sans GB" panose="020B0300000000000000" charset="-122"/>
                        </a:rPr>
                        <a:t>主要看什么</a:t>
                      </a:r>
                      <a:endParaRPr sz="1800" b="1">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DA2A"/>
                    </a:solidFill>
                  </a:tcPr>
                </a:tc>
              </a:tr>
              <a:tr h="628650">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主题表达</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30</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让观众看懂你想讲什么，内容有自己的观察</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628650">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内容可信</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25</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观点有理由，涉及数据和事实时有依据</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628650">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视觉呈现</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30</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页面清楚、有风格，画面帮助表达内容</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r h="628650">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制作说明</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15</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c>
                  <a:txBody>
                    <a:bodyPr>
                      <a:spAutoFit/>
                    </a:bodyPr>
                    <a:lstStyle/>
                    <a:p>
                      <a:pPr algn="ctr">
                        <a:buNone/>
                      </a:pPr>
                      <a:r>
                        <a:rPr sz="1800" b="0">
                          <a:solidFill>
                            <a:srgbClr val="171717"/>
                          </a:solidFill>
                          <a:latin typeface="Hiragino Sans GB" panose="020B0300000000000000" charset="-122"/>
                          <a:ea typeface="Hiragino Sans GB" panose="020B0300000000000000" charset="-122"/>
                          <a:cs typeface="Hiragino Sans GB" panose="020B0300000000000000" charset="-122"/>
                        </a:rPr>
                        <a:t>说明 Cheso 用在哪些地方，自己做了哪些修改</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txBody>
                  <a:tcPr marL="190500" marR="152400" marT="85725" marB="85725" anchor="ctr">
                    <a:solidFill>
                      <a:srgbClr val="FFFFFF"/>
                    </a:solidFill>
                  </a:tcPr>
                </a:tc>
              </a:tr>
            </a:tbl>
          </a:graphicData>
        </a:graphic>
      </p:graphicFrame>
      <p:sp>
        <p:nvSpPr>
          <p:cNvPr id="6" name="建议评分，总分 100。事实和授权合格为前提，点赞量不作为作品质"/>
          <p:cNvSpPr>
            <a:spLocks noGrp="1"/>
          </p:cNvSpPr>
          <p:nvPr/>
        </p:nvSpPr>
        <p:spPr>
          <a:xfrm>
            <a:off x="685800" y="5962650"/>
            <a:ext cx="10820400" cy="628650"/>
          </a:xfrm>
          <a:prstGeom prst="rect">
            <a:avLst/>
          </a:prstGeom>
          <a:noFill/>
          <a:ln w="0">
            <a:noFill/>
          </a:ln>
        </p:spPr>
        <p:txBody>
          <a:bodyPr wrap="square" lIns="0" tIns="0" rIns="0" bIns="0">
            <a:noAutofit/>
          </a:bodyPr>
          <a:lstStyle/>
          <a:p>
            <a:pPr>
              <a:buNone/>
              <a:defRPr sz="1350" b="0">
                <a:solidFill>
                  <a:srgbClr val="6B6B6B"/>
                </a:solidFill>
                <a:latin typeface="Hiragino Sans GB" panose="020B0300000000000000" charset="-122"/>
                <a:ea typeface="Hiragino Sans GB" panose="020B0300000000000000" charset="-122"/>
                <a:cs typeface="Hiragino Sans GB" panose="020B0300000000000000" charset="-122"/>
              </a:defRPr>
            </a:pPr>
            <a:r>
              <a:rPr sz="1350" b="0">
                <a:solidFill>
                  <a:srgbClr val="6B6B6B"/>
                </a:solidFill>
                <a:latin typeface="Hiragino Sans GB" panose="020B0300000000000000" charset="-122"/>
                <a:ea typeface="Hiragino Sans GB" panose="020B0300000000000000" charset="-122"/>
                <a:cs typeface="Hiragino Sans GB" panose="020B0300000000000000" charset="-122"/>
              </a:rPr>
              <a:t>拟邀设计、校园及产品评审，按统一标准评分并说明理由。校园运营受理异议，再交评审复核。</a:t>
            </a:r>
            <a:endParaRPr sz="1350" b="0">
              <a:solidFill>
                <a:srgbClr val="6B6B6B"/>
              </a:solidFill>
              <a:latin typeface="Hiragino Sans GB" panose="020B0300000000000000" charset="-122"/>
              <a:ea typeface="Hiragino Sans GB" panose="020B0300000000000000" charset="-122"/>
              <a:cs typeface="Hiragino Sans GB" panose="020B0300000000000000" charset="-122"/>
            </a:endParaRPr>
          </a:p>
          <a:p>
            <a:pPr>
              <a:buNone/>
              <a:defRPr sz="1350" b="0">
                <a:solidFill>
                  <a:srgbClr val="6B6B6B"/>
                </a:solidFill>
                <a:latin typeface="Hiragino Sans GB" panose="020B0300000000000000" charset="-122"/>
                <a:ea typeface="Hiragino Sans GB" panose="020B0300000000000000" charset="-122"/>
                <a:cs typeface="Hiragino Sans GB" panose="020B0300000000000000" charset="-122"/>
              </a:defRPr>
            </a:pPr>
            <a:r>
              <a:rPr sz="1350" b="0">
                <a:solidFill>
                  <a:srgbClr val="6B6B6B"/>
                </a:solidFill>
                <a:latin typeface="Hiragino Sans GB" panose="020B0300000000000000" charset="-122"/>
                <a:ea typeface="Hiragino Sans GB" panose="020B0300000000000000" charset="-122"/>
                <a:cs typeface="Hiragino Sans GB" panose="020B0300000000000000" charset="-122"/>
              </a:rPr>
              <a:t>评分与人选在招募前公布。不以题目大小、页数或点赞量评奖，存在利益关系时回避。</a:t>
            </a:r>
            <a:endParaRPr sz="1350" b="0">
              <a:solidFill>
                <a:srgbClr val="6B6B6B"/>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DA2A"/>
        </a:solidFill>
        <a:effectLst/>
      </p:bgPr>
    </p:bg>
    <p:spTree>
      <p:nvGrpSpPr>
        <p:cNvPr id="1" name=""/>
        <p:cNvGrpSpPr/>
        <p:nvPr/>
      </p:nvGrpSpPr>
      <p:grpSpPr/>
      <p:sp>
        <p:nvSpPr>
          <p:cNvPr id="15" name="CHESO CAMPUS LAB"/>
          <p:cNvSpPr>
            <a:spLocks noGrp="1"/>
          </p:cNvSpPr>
          <p:nvPr/>
        </p:nvSpPr>
        <p:spPr>
          <a:xfrm>
            <a:off x="685800" y="295275"/>
            <a:ext cx="8572500" cy="228600"/>
          </a:xfrm>
          <a:prstGeom prst="rect">
            <a:avLst/>
          </a:prstGeom>
          <a:noFill/>
          <a:ln w="0">
            <a:noFill/>
          </a:ln>
        </p:spPr>
        <p:txBody>
          <a:bodyPr wrap="square" lIns="0" tIns="0" rIns="0" bIns="0">
            <a:noAutofit/>
          </a:bodyPr>
          <a:lstStyle/>
          <a:p>
            <a:pPr>
              <a:buNone/>
              <a:defRPr sz="1275" b="1">
                <a:solidFill>
                  <a:srgbClr val="171717"/>
                </a:solidFill>
                <a:latin typeface="Helvetica Neue" panose="02000503000000020004"/>
                <a:ea typeface="Helvetica Neue" panose="02000503000000020004"/>
                <a:cs typeface="Helvetica Neue" panose="02000503000000020004"/>
              </a:defRPr>
            </a:pPr>
            <a:r>
              <a:rPr sz="1275" b="1">
                <a:solidFill>
                  <a:srgbClr val="171717"/>
                </a:solidFill>
                <a:latin typeface="Helvetica Neue" panose="02000503000000020004"/>
                <a:ea typeface="Helvetica Neue" panose="02000503000000020004"/>
                <a:cs typeface="Helvetica Neue" panose="02000503000000020004"/>
              </a:rPr>
              <a:t>CHESO CAMPUS LAB</a:t>
            </a:r>
            <a:endParaRPr sz="1275" b="1">
              <a:solidFill>
                <a:srgbClr val="171717"/>
              </a:solidFill>
              <a:latin typeface="Helvetica Neue" panose="02000503000000020004"/>
              <a:ea typeface="Helvetica Neue" panose="02000503000000020004"/>
              <a:cs typeface="Helvetica Neue" panose="02000503000000020004"/>
            </a:endParaRPr>
          </a:p>
        </p:txBody>
      </p:sp>
      <p:sp>
        <p:nvSpPr>
          <p:cNvPr id="2" name="12"/>
          <p:cNvSpPr>
            <a:spLocks noGrp="1"/>
          </p:cNvSpPr>
          <p:nvPr/>
        </p:nvSpPr>
        <p:spPr>
          <a:xfrm>
            <a:off x="10858500" y="266700"/>
            <a:ext cx="647700" cy="285750"/>
          </a:xfrm>
          <a:prstGeom prst="rect">
            <a:avLst/>
          </a:prstGeom>
          <a:noFill/>
          <a:ln w="0">
            <a:noFill/>
          </a:ln>
        </p:spPr>
        <p:txBody>
          <a:bodyPr wrap="square" lIns="0" tIns="0" rIns="0" bIns="0">
            <a:noAutofit/>
          </a:bodyPr>
          <a:lstStyle/>
          <a:p>
            <a:pPr algn="r">
              <a:buNone/>
              <a:defRPr sz="1575" b="0">
                <a:solidFill>
                  <a:srgbClr val="171717"/>
                </a:solidFill>
                <a:latin typeface="Helvetica Neue" panose="02000503000000020004"/>
                <a:ea typeface="Helvetica Neue" panose="02000503000000020004"/>
                <a:cs typeface="Helvetica Neue" panose="02000503000000020004"/>
              </a:defRPr>
            </a:pPr>
            <a:r>
              <a:rPr sz="1575" b="0">
                <a:solidFill>
                  <a:srgbClr val="171717"/>
                </a:solidFill>
                <a:latin typeface="Helvetica Neue" panose="02000503000000020004"/>
                <a:ea typeface="Helvetica Neue" panose="02000503000000020004"/>
                <a:cs typeface="Helvetica Neue" panose="02000503000000020004"/>
              </a:rPr>
              <a:t>12</a:t>
            </a:r>
            <a:endParaRPr sz="1575" b="0">
              <a:solidFill>
                <a:srgbClr val="171717"/>
              </a:solidFill>
              <a:latin typeface="Helvetica Neue" panose="02000503000000020004"/>
              <a:ea typeface="Helvetica Neue" panose="02000503000000020004"/>
              <a:cs typeface="Helvetica Neue" panose="02000503000000020004"/>
            </a:endParaRPr>
          </a:p>
        </p:txBody>
      </p:sp>
      <p:sp>
        <p:nvSpPr>
          <p:cNvPr id="3" name="活动结束后，学生还会打开 Cheso 吗？"/>
          <p:cNvSpPr>
            <a:spLocks noGrp="1"/>
          </p:cNvSpPr>
          <p:nvPr/>
        </p:nvSpPr>
        <p:spPr>
          <a:xfrm>
            <a:off x="685800" y="866775"/>
            <a:ext cx="10820400" cy="838200"/>
          </a:xfrm>
          <a:prstGeom prst="rect">
            <a:avLst/>
          </a:prstGeom>
          <a:noFill/>
          <a:ln w="0">
            <a:noFill/>
          </a:ln>
        </p:spPr>
        <p:txBody>
          <a:bodyPr wrap="square" lIns="0" tIns="0" rIns="0" bIns="0">
            <a:noAutofit/>
          </a:bodyPr>
          <a:lstStyle/>
          <a:p>
            <a:pPr>
              <a:buNone/>
              <a:defRPr sz="3900" b="1">
                <a:solidFill>
                  <a:srgbClr val="171717"/>
                </a:solidFill>
                <a:latin typeface="Hiragino Sans GB" panose="020B0300000000000000" charset="-122"/>
                <a:ea typeface="Hiragino Sans GB" panose="020B0300000000000000" charset="-122"/>
                <a:cs typeface="Hiragino Sans GB" panose="020B0300000000000000" charset="-122"/>
              </a:defRPr>
            </a:pPr>
            <a:r>
              <a:rPr sz="3900" b="1">
                <a:solidFill>
                  <a:srgbClr val="171717"/>
                </a:solidFill>
                <a:latin typeface="Hiragino Sans GB" panose="020B0300000000000000" charset="-122"/>
                <a:ea typeface="Hiragino Sans GB" panose="020B0300000000000000" charset="-122"/>
                <a:cs typeface="Hiragino Sans GB" panose="020B0300000000000000" charset="-122"/>
              </a:rPr>
              <a:t>活动效果怎样判断</a:t>
            </a:r>
            <a:endParaRPr sz="390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4" name="20"/>
          <p:cNvSpPr>
            <a:spLocks noGrp="1"/>
          </p:cNvSpPr>
          <p:nvPr/>
        </p:nvSpPr>
        <p:spPr>
          <a:xfrm>
            <a:off x="685800" y="2905125"/>
            <a:ext cx="2524125" cy="457200"/>
          </a:xfrm>
          <a:prstGeom prst="rect">
            <a:avLst/>
          </a:prstGeom>
          <a:noFill/>
          <a:ln w="0">
            <a:noFill/>
          </a:ln>
        </p:spPr>
        <p:txBody>
          <a:bodyPr wrap="square" lIns="0" tIns="0" rIns="0" bIns="0">
            <a:noAutofit/>
          </a:bodyPr>
          <a:lstStyle/>
          <a:p>
            <a:pPr>
              <a:buNone/>
              <a:defRPr sz="2250" b="1">
                <a:solidFill>
                  <a:srgbClr val="171717"/>
                </a:solidFill>
                <a:latin typeface="Hiragino Sans GB" panose="020B0300000000000000" charset="-122"/>
                <a:ea typeface="Hiragino Sans GB" panose="020B0300000000000000" charset="-122"/>
                <a:cs typeface="Hiragino Sans GB" panose="020B0300000000000000" charset="-122"/>
              </a:defRPr>
            </a:pPr>
            <a:r>
              <a:rPr sz="2250" b="1">
                <a:solidFill>
                  <a:srgbClr val="171717"/>
                </a:solidFill>
                <a:latin typeface="Hiragino Sans GB" panose="020B0300000000000000" charset="-122"/>
                <a:ea typeface="Hiragino Sans GB" panose="020B0300000000000000" charset="-122"/>
                <a:cs typeface="Hiragino Sans GB" panose="020B0300000000000000" charset="-122"/>
              </a:rPr>
              <a:t>开始使用</a:t>
            </a:r>
            <a:endParaRPr sz="22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5" name="组可用账号"/>
          <p:cNvSpPr>
            <a:spLocks noGrp="1"/>
          </p:cNvSpPr>
          <p:nvPr/>
        </p:nvSpPr>
        <p:spPr>
          <a:xfrm>
            <a:off x="685800" y="3590925"/>
            <a:ext cx="2543175" cy="1390650"/>
          </a:xfrm>
          <a:prstGeom prst="rect">
            <a:avLst/>
          </a:prstGeom>
          <a:noFill/>
          <a:ln w="0">
            <a:noFill/>
          </a:ln>
        </p:spPr>
        <p:txBody>
          <a:bodyPr wrap="square" lIns="0" tIns="0" rIns="0" bIns="0">
            <a:noAutofit/>
          </a:bodyPr>
          <a:lstStyle/>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实际制作过才计入。</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操作者按账号去重。</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入选后还没开始，</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先查权限和操作说明。</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6" name="12"/>
          <p:cNvSpPr>
            <a:spLocks noGrp="1"/>
          </p:cNvSpPr>
          <p:nvPr/>
        </p:nvSpPr>
        <p:spPr>
          <a:xfrm>
            <a:off x="3409950" y="2905125"/>
            <a:ext cx="2524125" cy="457200"/>
          </a:xfrm>
          <a:prstGeom prst="rect">
            <a:avLst/>
          </a:prstGeom>
          <a:noFill/>
          <a:ln w="0">
            <a:noFill/>
          </a:ln>
        </p:spPr>
        <p:txBody>
          <a:bodyPr wrap="square" lIns="0" tIns="0" rIns="0" bIns="0">
            <a:noAutofit/>
          </a:bodyPr>
          <a:lstStyle/>
          <a:p>
            <a:pPr>
              <a:buNone/>
              <a:defRPr sz="2250" b="1">
                <a:solidFill>
                  <a:srgbClr val="171717"/>
                </a:solidFill>
                <a:latin typeface="Hiragino Sans GB" panose="020B0300000000000000" charset="-122"/>
                <a:ea typeface="Hiragino Sans GB" panose="020B0300000000000000" charset="-122"/>
                <a:cs typeface="Hiragino Sans GB" panose="020B0300000000000000" charset="-122"/>
              </a:defRPr>
            </a:pPr>
            <a:r>
              <a:rPr sz="2250" b="1">
                <a:solidFill>
                  <a:srgbClr val="171717"/>
                </a:solidFill>
                <a:latin typeface="Hiragino Sans GB" panose="020B0300000000000000" charset="-122"/>
                <a:ea typeface="Hiragino Sans GB" panose="020B0300000000000000" charset="-122"/>
                <a:cs typeface="Hiragino Sans GB" panose="020B0300000000000000" charset="-122"/>
              </a:rPr>
              <a:t>完成作品</a:t>
            </a:r>
            <a:endParaRPr sz="22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7" name="组合格作品"/>
          <p:cNvSpPr>
            <a:spLocks noGrp="1"/>
          </p:cNvSpPr>
          <p:nvPr/>
        </p:nvSpPr>
        <p:spPr>
          <a:xfrm>
            <a:off x="3409950" y="3590925"/>
            <a:ext cx="2543175" cy="1390650"/>
          </a:xfrm>
          <a:prstGeom prst="rect">
            <a:avLst/>
          </a:prstGeom>
          <a:noFill/>
          <a:ln w="0">
            <a:noFill/>
          </a:ln>
        </p:spPr>
        <p:txBody>
          <a:bodyPr wrap="square" lIns="0" tIns="0" rIns="0" bIns="0">
            <a:noAutofit/>
          </a:bodyPr>
          <a:lstStyle/>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完成率用合格作品组数</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除以全部入选组数。</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中途退出也保留记录。</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PPT 与海报分别统计。</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8" name="3"/>
          <p:cNvSpPr>
            <a:spLocks noGrp="1"/>
          </p:cNvSpPr>
          <p:nvPr/>
        </p:nvSpPr>
        <p:spPr>
          <a:xfrm>
            <a:off x="6134100" y="2905125"/>
            <a:ext cx="2524125" cy="457200"/>
          </a:xfrm>
          <a:prstGeom prst="rect">
            <a:avLst/>
          </a:prstGeom>
          <a:noFill/>
          <a:ln w="0">
            <a:noFill/>
          </a:ln>
        </p:spPr>
        <p:txBody>
          <a:bodyPr wrap="square" lIns="0" tIns="0" rIns="0" bIns="0">
            <a:noAutofit/>
          </a:bodyPr>
          <a:lstStyle/>
          <a:p>
            <a:pPr>
              <a:buNone/>
              <a:defRPr sz="2250" b="1">
                <a:solidFill>
                  <a:srgbClr val="171717"/>
                </a:solidFill>
                <a:latin typeface="Hiragino Sans GB" panose="020B0300000000000000" charset="-122"/>
                <a:ea typeface="Hiragino Sans GB" panose="020B0300000000000000" charset="-122"/>
                <a:cs typeface="Hiragino Sans GB" panose="020B0300000000000000" charset="-122"/>
              </a:defRPr>
            </a:pPr>
            <a:r>
              <a:rPr sz="2250" b="1">
                <a:solidFill>
                  <a:srgbClr val="171717"/>
                </a:solidFill>
                <a:latin typeface="Hiragino Sans GB" panose="020B0300000000000000" charset="-122"/>
                <a:ea typeface="Hiragino Sans GB" panose="020B0300000000000000" charset="-122"/>
                <a:cs typeface="Hiragino Sans GB" panose="020B0300000000000000" charset="-122"/>
              </a:rPr>
              <a:t>案例分享</a:t>
            </a:r>
            <a:endParaRPr sz="22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9" name="个完整授权案例"/>
          <p:cNvSpPr>
            <a:spLocks noGrp="1"/>
          </p:cNvSpPr>
          <p:nvPr/>
        </p:nvSpPr>
        <p:spPr>
          <a:xfrm>
            <a:off x="6134100" y="3590925"/>
            <a:ext cx="2543175" cy="1390650"/>
          </a:xfrm>
          <a:prstGeom prst="rect">
            <a:avLst/>
          </a:prstGeom>
          <a:noFill/>
          <a:ln w="0">
            <a:noFill/>
          </a:ln>
        </p:spPr>
        <p:txBody>
          <a:bodyPr wrap="square" lIns="0" tIns="0" rIns="0" bIns="0">
            <a:noAutofit/>
          </a:bodyPr>
          <a:lstStyle/>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拟整理 3 份完整案例。</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先征得作者同意。</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说明 Cheso 参与的部分，</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保留真实修改过程。</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0" name="4"/>
          <p:cNvSpPr>
            <a:spLocks noGrp="1"/>
          </p:cNvSpPr>
          <p:nvPr/>
        </p:nvSpPr>
        <p:spPr>
          <a:xfrm>
            <a:off x="8858250" y="2905125"/>
            <a:ext cx="2524125" cy="457200"/>
          </a:xfrm>
          <a:prstGeom prst="rect">
            <a:avLst/>
          </a:prstGeom>
          <a:noFill/>
          <a:ln w="0">
            <a:noFill/>
          </a:ln>
        </p:spPr>
        <p:txBody>
          <a:bodyPr wrap="square" lIns="0" tIns="0" rIns="0" bIns="0">
            <a:noAutofit/>
          </a:bodyPr>
          <a:lstStyle/>
          <a:p>
            <a:pPr>
              <a:buNone/>
              <a:defRPr sz="2250" b="1">
                <a:solidFill>
                  <a:srgbClr val="171717"/>
                </a:solidFill>
                <a:latin typeface="Hiragino Sans GB" panose="020B0300000000000000" charset="-122"/>
                <a:ea typeface="Hiragino Sans GB" panose="020B0300000000000000" charset="-122"/>
                <a:cs typeface="Hiragino Sans GB" panose="020B0300000000000000" charset="-122"/>
              </a:defRPr>
            </a:pPr>
            <a:r>
              <a:rPr sz="2250" b="1">
                <a:solidFill>
                  <a:srgbClr val="171717"/>
                </a:solidFill>
                <a:latin typeface="Hiragino Sans GB" panose="020B0300000000000000" charset="-122"/>
                <a:ea typeface="Hiragino Sans GB" panose="020B0300000000000000" charset="-122"/>
                <a:cs typeface="Hiragino Sans GB" panose="020B0300000000000000" charset="-122"/>
              </a:rPr>
              <a:t>后续选择</a:t>
            </a:r>
            <a:endParaRPr sz="2250" b="1">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1" name="名操作者完成&#10;第二项真实任务"/>
          <p:cNvSpPr>
            <a:spLocks noGrp="1"/>
          </p:cNvSpPr>
          <p:nvPr/>
        </p:nvSpPr>
        <p:spPr>
          <a:xfrm>
            <a:off x="8858250" y="3590925"/>
            <a:ext cx="2543175" cy="1390650"/>
          </a:xfrm>
          <a:prstGeom prst="rect">
            <a:avLst/>
          </a:prstGeom>
          <a:noFill/>
          <a:ln w="0">
            <a:noFill/>
          </a:ln>
        </p:spPr>
        <p:txBody>
          <a:bodyPr wrap="square" lIns="0" tIns="0" rIns="0" bIns="0">
            <a:noAutofit/>
          </a:bodyPr>
          <a:lstStyle/>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结束后 30 天内回访。</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先问有没有新的题目，</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再问是否用 Cheso 完成。</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650" b="0">
                <a:solidFill>
                  <a:srgbClr val="171717"/>
                </a:solidFill>
                <a:latin typeface="Hiragino Sans GB" panose="020B0300000000000000" charset="-122"/>
                <a:ea typeface="Hiragino Sans GB" panose="020B0300000000000000" charset="-122"/>
                <a:cs typeface="Hiragino Sans GB" panose="020B0300000000000000" charset="-122"/>
              </a:defRPr>
            </a:pPr>
            <a:r>
              <a:rPr sz="1650" b="0">
                <a:solidFill>
                  <a:srgbClr val="171717"/>
                </a:solidFill>
                <a:latin typeface="Hiragino Sans GB" panose="020B0300000000000000" charset="-122"/>
                <a:ea typeface="Hiragino Sans GB" panose="020B0300000000000000" charset="-122"/>
                <a:cs typeface="Hiragino Sans GB" panose="020B0300000000000000" charset="-122"/>
              </a:rPr>
              <a:t>旧作修改不算新使用。</a:t>
            </a:r>
            <a:endParaRPr sz="165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2" name="以上均为试点建议目标，合格作品与再次使用人数为最低目标。&#10;第二项"/>
          <p:cNvSpPr>
            <a:spLocks noGrp="1"/>
          </p:cNvSpPr>
          <p:nvPr/>
        </p:nvSpPr>
        <p:spPr>
          <a:xfrm>
            <a:off x="685800" y="1743075"/>
            <a:ext cx="10820400" cy="762000"/>
          </a:xfrm>
          <a:prstGeom prst="rect">
            <a:avLst/>
          </a:prstGeom>
          <a:noFill/>
          <a:ln w="0">
            <a:noFill/>
          </a:ln>
        </p:spPr>
        <p:txBody>
          <a:bodyPr wrap="square" lIns="0" tIns="0" rIns="0" bIns="0">
            <a:noAutofit/>
          </a:bodyPr>
          <a:lstStyle/>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0">
                <a:solidFill>
                  <a:srgbClr val="171717"/>
                </a:solidFill>
                <a:latin typeface="Hiragino Sans GB" panose="020B0300000000000000" charset="-122"/>
                <a:ea typeface="Hiragino Sans GB" panose="020B0300000000000000" charset="-122"/>
                <a:cs typeface="Hiragino Sans GB" panose="020B0300000000000000" charset="-122"/>
              </a:rPr>
              <a:t>主要看学生实际完成的作品，内容完整、清楚可读，能正常展示。</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800" b="0">
                <a:solidFill>
                  <a:srgbClr val="171717"/>
                </a:solidFill>
                <a:latin typeface="Hiragino Sans GB" panose="020B0300000000000000" charset="-122"/>
                <a:ea typeface="Hiragino Sans GB" panose="020B0300000000000000" charset="-122"/>
                <a:cs typeface="Hiragino Sans GB" panose="020B0300000000000000" charset="-122"/>
              </a:defRPr>
            </a:pPr>
            <a:r>
              <a:rPr sz="1800" b="0">
                <a:solidFill>
                  <a:srgbClr val="171717"/>
                </a:solidFill>
                <a:latin typeface="Hiragino Sans GB" panose="020B0300000000000000" charset="-122"/>
                <a:ea typeface="Hiragino Sans GB" panose="020B0300000000000000" charset="-122"/>
                <a:cs typeface="Hiragino Sans GB" panose="020B0300000000000000" charset="-122"/>
              </a:rPr>
              <a:t>20 组用于估算人手，12 份成品为讨论目标。正式目标根据实测与支持能力确认。</a:t>
            </a:r>
            <a:endParaRPr sz="1800" b="0">
              <a:solidFill>
                <a:srgbClr val="171717"/>
              </a:solidFill>
              <a:latin typeface="Hiragino Sans GB" panose="020B0300000000000000" charset="-122"/>
              <a:ea typeface="Hiragino Sans GB" panose="020B0300000000000000" charset="-122"/>
              <a:cs typeface="Hiragino Sans GB" panose="020B0300000000000000" charset="-122"/>
            </a:endParaRPr>
          </a:p>
        </p:txBody>
      </p:sp>
      <p:sp>
        <p:nvSpPr>
          <p:cNvPr id="13" name="Background band"/>
          <p:cNvSpPr>
            <a:spLocks noGrp="1"/>
          </p:cNvSpPr>
          <p:nvPr/>
        </p:nvSpPr>
        <p:spPr>
          <a:xfrm>
            <a:off x="685800" y="5467350"/>
            <a:ext cx="10820400" cy="9525"/>
          </a:xfrm>
          <a:prstGeom prst="rect">
            <a:avLst/>
          </a:prstGeom>
          <a:solidFill>
            <a:srgbClr val="171717"/>
          </a:solidFill>
          <a:ln w="0">
            <a:noFill/>
          </a:ln>
        </p:spPr>
      </p:sp>
      <p:sp>
        <p:nvSpPr>
          <p:cNvPr id="14" name="让学生在下一个真实任务到来时，&#10;仍然愿意打开 Cheso。"/>
          <p:cNvSpPr>
            <a:spLocks noGrp="1"/>
          </p:cNvSpPr>
          <p:nvPr/>
        </p:nvSpPr>
        <p:spPr>
          <a:xfrm>
            <a:off x="685800" y="5734050"/>
            <a:ext cx="10820400" cy="857250"/>
          </a:xfrm>
          <a:prstGeom prst="rect">
            <a:avLst/>
          </a:prstGeom>
          <a:noFill/>
          <a:ln w="0">
            <a:noFill/>
          </a:ln>
        </p:spPr>
        <p:txBody>
          <a:bodyPr wrap="square" lIns="0" tIns="0" rIns="0" bIns="0">
            <a:noAutofit/>
          </a:bodyPr>
          <a:lstStyle/>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b="1">
                <a:solidFill>
                  <a:srgbClr val="171717"/>
                </a:solidFill>
                <a:latin typeface="Hiragino Sans GB" panose="020B0300000000000000" charset="-122"/>
                <a:ea typeface="Hiragino Sans GB" panose="020B0300000000000000" charset="-122"/>
                <a:cs typeface="Hiragino Sans GB" panose="020B0300000000000000" charset="-122"/>
              </a:rPr>
              <a:t>有新题目却选择其他工具，要问清原因。没有新需求的同学单独记录。</a:t>
            </a:r>
            <a:endParaRPr sz="1875" b="1">
              <a:solidFill>
                <a:srgbClr val="171717"/>
              </a:solidFill>
              <a:latin typeface="Hiragino Sans GB" panose="020B0300000000000000" charset="-122"/>
              <a:ea typeface="Hiragino Sans GB" panose="020B0300000000000000" charset="-122"/>
              <a:cs typeface="Hiragino Sans GB" panose="020B0300000000000000" charset="-122"/>
            </a:endParaRPr>
          </a:p>
          <a:p>
            <a:pPr>
              <a:buNone/>
              <a:defRPr sz="1875" b="1">
                <a:solidFill>
                  <a:srgbClr val="171717"/>
                </a:solidFill>
                <a:latin typeface="Hiragino Sans GB" panose="020B0300000000000000" charset="-122"/>
                <a:ea typeface="Hiragino Sans GB" panose="020B0300000000000000" charset="-122"/>
                <a:cs typeface="Hiragino Sans GB" panose="020B0300000000000000" charset="-122"/>
              </a:defRPr>
            </a:pPr>
            <a:r>
              <a:rPr sz="1875" b="1">
                <a:solidFill>
                  <a:srgbClr val="171717"/>
                </a:solidFill>
                <a:latin typeface="Hiragino Sans GB" panose="020B0300000000000000" charset="-122"/>
                <a:ea typeface="Hiragino Sans GB" panose="020B0300000000000000" charset="-122"/>
                <a:cs typeface="Hiragino Sans GB" panose="020B0300000000000000" charset="-122"/>
              </a:rPr>
              <a:t>同时记录辅导时长与产品花费，供团队判断下一轮是否值得继续。</a:t>
            </a:r>
            <a:endParaRPr sz="1875" b="1">
              <a:solidFill>
                <a:srgbClr val="171717"/>
              </a:solidFill>
              <a:latin typeface="Hiragino Sans GB" panose="020B0300000000000000" charset="-122"/>
              <a:ea typeface="Hiragino Sans GB" panose="020B0300000000000000" charset="-122"/>
              <a:cs typeface="Hiragino Sans GB" panose="020B0300000000000000"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2713</Words>
  <Application>WPS 演示</Application>
  <PresentationFormat>Converted Presentation</PresentationFormat>
  <Paragraphs>411</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宋体</vt:lpstr>
      <vt:lpstr>Wingdings</vt:lpstr>
      <vt:lpstr>Helvetica Neue</vt:lpstr>
      <vt:lpstr>Hiragino Sans GB</vt:lpstr>
      <vt:lpstr>微软雅黑</vt:lpstr>
      <vt:lpstr>方正雅意黑 GB18030L2</vt:lpstr>
      <vt:lpstr>宋体</vt:lpstr>
      <vt:lpstr>Arial Unicode MS</vt:lpstr>
      <vt:lpstr>汉仪书宋二KW</vt:lpstr>
      <vt:lpstr>Calibri</vt:lpstr>
      <vt:lpstr>Helvetica Neue</vt:lpstr>
      <vt:lpstr>Hiragino Sans GB W6</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溜大王</cp:lastModifiedBy>
  <cp:revision>1</cp:revision>
  <dcterms:created xsi:type="dcterms:W3CDTF">2026-09-19T17:25:43Z</dcterms:created>
  <dcterms:modified xsi:type="dcterms:W3CDTF">2026-09-19T17:25:43Z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2052-12.1.26055.26055</vt:lpwstr>
  </property>
  <property fmtid="{D5CDD505-2E9C-101B-9397-08002B2CF9AE}" pid="3" name="ICV">
    <vt:lpwstr>669AC10D4F3A785F97C5AE6A2844FFDD_42</vt:lpwstr>
  </property>
</Properties>
</file>